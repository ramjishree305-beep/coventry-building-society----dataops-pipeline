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at was built and why" id="{0D344272-1B9C-22C8-BC8D-3F6169DDC43B}">
          <p14:sldIdLst>
            <p14:sldId id="256"/>
            <p14:sldId id="257"/>
          </p14:sldIdLst>
        </p14:section>
        <p14:section name="Architecture, tools and transformations" id="{56C5E75E-3B59-C2F6-9298-1B6F86248D34}">
          <p14:sldIdLst>
            <p14:sldId id="258"/>
            <p14:sldId id="259"/>
            <p14:sldId id="260"/>
            <p14:sldId id="261"/>
          </p14:sldIdLst>
        </p14:section>
        <p14:section name="Automation, quality and monitoring" id="{3BCEB8DC-F769-E8B8-ECF6-A42C258A3BF1}">
          <p14:sldIdLst>
            <p14:sldId id="262"/>
            <p14:sldId id="263"/>
            <p14:sldId id="264"/>
            <p14:sldId id="265"/>
            <p14:sldId id="266"/>
          </p14:sldIdLst>
        </p14:section>
        <p14:section name="Lessons, scalability and demo" id="{37906476-5B03-7877-7636-B8A60E4A64C6}">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74673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[name]. Over the next 12 minutes I’ll walk through a small but complete DataOps pipeline I built for financial transaction data: how it’s designed, how it’s automated, how I keep data quality high, and how it would scale. I’ll finish with a live demo.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says “e.g.” for every tool, so I chose the cloud-free option each time. Nothing here needs an AWS account: GitHub Actions runs on GitHub’s own servers, Postgres and the pipeline run in Docker on my laptop, and Terraform uses the Docker provider so terraform apply really works in a live demo. Every requirement maps to a specific file. The dataset is 78,600 metaverse crypto transactions for 2022, with amounts, wallets, regions, risk scores and fraud labels.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flows left to right. Ingest reads every CSV or JSON file from a local landing folder and tags each row with its source file for lineage. Clean fixes types and applies business rules; rows that break a rule go to quarantine with the reason, not silently dropped. Then the quality gate: if too many rows fail, the run stops before anything reaches the warehouse. Enrich adds analytics and ML features, and Store writes Parquet files and loads PostgreSQL running in Docker, my stand-in for Redshift. GitHub Actions, Docker Compose, Terraform, logging and .env secrets wrap around every step, all without a cloud account.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one run on the full dataset. 78,600 rows in, zero rejected because this source file is clean, and three outputs: the enriched fact table with 26 columns, a daily summary by region for dashboards, and a feature table with one row per sending wallet for fraud models. 6,495 transactions are labelled scam or phishing. The whole run takes a few seconds on a laptop.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tool is free and runs locally, and each has a direct AWS equivalent, so the design carries over unchanged. pandas is right for 78,000 rows; the transforms take and return DataFrames, so they port to PySpark. Postgres stands in for Redshift because they share SQL. Terraform uses the Docker provider, so apply genuinely creates infrastructure in the demo; switching to the AWS provider later changes the resources, not the workflow. Secrets are environment variables, which is exactly how Secrets Manager or Vault would inject them.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Transformation is three small functions. Clean makes the data trustworthy: types, text normalisation, a regex check on wallet addresses, and every rejected row keeps its reason. Enrich adds the flags analysts and models actually ask for. Aggregate produces two shapes: a daily summary for dashboards and a per-wallet feature table for fraud models. Each run stamps a run id on every row, so any number can be traced back to the run that produced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GitHub Actions workflow runs on GitHub’s own servers, so it needs no cloud account and is free for a public repo. Job one runs the 15 unit tests. Job two checks the Terraform is formatted and valid. Job three runs only if both pass: it builds the Docker image, runs the real pipeline against a throwaway Postgres service, queries the row counts, and then feeds in the dirty batch and expects it to fail. If the gate ever stopped catching bad data, the build would go red. Logs and the run report are uploaded as build artifacts.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works at three levels. First, row-level rules: anything that breaks a rule goes to a quarantine file with the reason, so a data steward can fix it at source. Second, a dataset-level gate: if more than 5% of rows are rejected, or any invariant fails, the pipeline exits with code 1 and nothing reaches the warehouse. In finance a missing load is far cheaper than a wrong one. Third, unit tests run in CI on every push, and CI also runs the dirty batch and expects it to fail, so a change that weakens a rule can’t be merged.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prove the gate works, I built a deliberately dirty batch: a negative amount, an invalid wallet, a risk score of 180, an unknown transaction type, a broken timestamp, and two duplicated rows. On the right is the actual log output. Fifteen clean rows, five quarantined, two duplicates dropped, and because 22.7% is above the 5% limit, the run fails and nothing is loaded into Postgres. I’ll run this live in the demo.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Monitoring is file-based so it works anywhere. The log file has one structured JSON line per step, so you can filter by run id or step with any tool. The run report shows the latest run in full, and the run history keeps a line per run, which is how you’d spot a rising reject rate or slower runs over time. These same numbers are what I’d push to Prometheus or CloudWatch in production. Re-runs are safe because outputs are replaced, not appended.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Infrastructure is code in two forms. Docker Compose brings up the whole stack with one command. Terraform does the same with the Docker provider, so terraform apply genuinely creates a network, a Postgres container and the pipeline container in the live demo, with no AWS account and no risk of charges. The one real secret is the Postgres password. It only ever comes from an environment variable: a git-ignored .env locally, GitHub Secrets in CI, and a sensitive Terraform variable. If this moved to AWS, Secrets Manager or Vault would set that same variable and the code wouldn’t change.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honest challenges. The dataset was perfectly clean, so I built a seeded dirty batch, and CI now expects it to fail. I wanted real infrastructure as code without a cloud bill, so Terraform uses the Docker provider and Postgres plays Redshift. I wanted one code path everywhere, so all configuration comes from environment variables, with SQLite as a fallback for a quick run without Docker. Re-runs had to be safe, so tables are replaced. And running the container as a non-root user meant preparing the mounted folders’ permissions.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scalability: the transform functions take a DataFrame and return one, so they port to PySpark with little change. Parquet is partitioned by month, so queries scan only the data they need. The container keeps no state, so it scales out horizontally, and Postgres becomes Redshift with the same SQL. On agility, which matters a lot in finance: when the fraud team needs a new rule, it’s one function and one test, through CI the same day, and a new environment is one terraform apply. Git history, run ids and quarantine files give auditors and regulators the lineage they ask for.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design. Now the live demo: run the tests, bring up Postgres and the pipeline with Docker Compose, open the run report, feed it the dirty batch and watch the gate stop it, query the Postgres warehouse with SQL, and finally show the green GitHub Actions run with its three jobs. Happy to take questions at any point.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11094415" cy="320040"/>
          </a:xfrm>
          <a:prstGeom prst="rect">
            <a:avLst/>
          </a:prstGeom>
          <a:noFill/>
          <a:ln/>
        </p:spPr>
        <p:txBody>
          <a:bodyPr wrap="square" rtlCol="0"/>
          <a:lstStyle>
            <a:lvl1pPr marL="0" indent="0">
              <a:buNone/>
              <a:defRPr lang="en-US" sz="1300" kern="0" spc="200" dirty="0">
                <a:solidFill>
                  <a:schemeClr val="accent1"/>
                </a:solidFill>
                <a:latin typeface="Courier New" pitchFamily="34" charset="0"/>
                <a:ea typeface="Courier New" pitchFamily="34" charset="-122"/>
                <a:cs typeface="Courier New" pitchFamily="34" charset="-120"/>
              </a:defRPr>
            </a:lvl1pPr>
          </a:lstStyle>
          <a:p>
            <a:pPr marL="0" indent="0">
              <a:buNone/>
            </a:pPr>
            <a:endParaRPr lang="en-US" sz="1300" dirty="0"/>
          </a:p>
        </p:txBody>
      </p:sp>
      <p:sp>
        <p:nvSpPr>
          <p:cNvPr id="3" name="Text 0"/>
          <p:cNvSpPr>
            <a:spLocks noGrp="1"/>
          </p:cNvSpPr>
          <p:nvPr>
            <p:ph type="title" idx="101" hasCustomPrompt="1"/>
          </p:nvPr>
        </p:nvSpPr>
        <p:spPr>
          <a:xfrm>
            <a:off x="548640" y="731520"/>
            <a:ext cx="11094415" cy="73152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statement">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11094415" cy="320040"/>
          </a:xfrm>
          <a:prstGeom prst="rect">
            <a:avLst/>
          </a:prstGeom>
          <a:noFill/>
          <a:ln/>
        </p:spPr>
        <p:txBody>
          <a:bodyPr wrap="square" rtlCol="0"/>
          <a:lstStyle>
            <a:lvl1pPr marL="0" indent="0">
              <a:buNone/>
              <a:defRPr lang="en-US" sz="1300" kern="0" spc="200" dirty="0">
                <a:solidFill>
                  <a:schemeClr val="accent5"/>
                </a:solidFill>
                <a:latin typeface="Courier New" pitchFamily="34" charset="0"/>
                <a:ea typeface="Courier New" pitchFamily="34" charset="-122"/>
                <a:cs typeface="Courier New" pitchFamily="34" charset="-120"/>
              </a:defRPr>
            </a:lvl1pPr>
          </a:lstStyle>
          <a:p>
            <a:pPr marL="0" indent="0">
              <a:buNone/>
            </a:pPr>
            <a:endParaRPr lang="en-US" sz="1300" dirty="0"/>
          </a:p>
        </p:txBody>
      </p:sp>
      <p:sp>
        <p:nvSpPr>
          <p:cNvPr id="3" name="Text 0"/>
          <p:cNvSpPr>
            <a:spLocks noGrp="1"/>
          </p:cNvSpPr>
          <p:nvPr>
            <p:ph type="title" idx="101" hasCustomPrompt="1"/>
          </p:nvPr>
        </p:nvSpPr>
        <p:spPr>
          <a:xfrm>
            <a:off x="548640" y="731520"/>
            <a:ext cx="11094415" cy="128016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11094415" cy="320040"/>
          </a:xfrm>
          <a:prstGeom prst="rect">
            <a:avLst/>
          </a:prstGeom>
          <a:noFill/>
          <a:ln/>
        </p:spPr>
        <p:txBody>
          <a:bodyPr wrap="square" lIns="0" tIns="0" rIns="0" bIns="0" rtlCol="0"/>
          <a:lstStyle/>
          <a:p>
            <a:pPr marL="0" indent="0">
              <a:buNone/>
            </a:pPr>
            <a:r>
              <a:rPr lang="en-US" sz="1300" kern="0" spc="200" dirty="0">
                <a:solidFill>
                  <a:schemeClr val="accent5"/>
                </a:solidFill>
                <a:latin typeface="Courier New" pitchFamily="34" charset="0"/>
                <a:ea typeface="Courier New" pitchFamily="34" charset="-122"/>
                <a:cs typeface="Courier New" pitchFamily="34" charset="-120"/>
              </a:rPr>
              <a:t>INGEST → TRANSFORM → STORE</a:t>
            </a:r>
            <a:endParaRPr lang="en-US" sz="1300" dirty="0"/>
          </a:p>
        </p:txBody>
      </p:sp>
      <p:sp>
        <p:nvSpPr>
          <p:cNvPr id="3" name="Text 1"/>
          <p:cNvSpPr txBox="1"/>
          <p:nvPr/>
        </p:nvSpPr>
        <p:spPr>
          <a:xfrm>
            <a:off x="548640" y="1828800"/>
            <a:ext cx="9601200" cy="1828800"/>
          </a:xfrm>
          <a:prstGeom prst="rect">
            <a:avLst/>
          </a:prstGeom>
          <a:noFill/>
          <a:ln/>
        </p:spPr>
        <p:txBody>
          <a:bodyPr wrap="square" lIns="0" tIns="0" rIns="0" bIns="0" rtlCol="0" anchor="t"/>
          <a:lstStyle/>
          <a:p>
            <a:pPr marL="0" indent="0">
              <a:buNone/>
            </a:pPr>
            <a:r>
              <a:rPr lang="en-US" sz="5200" b="1" dirty="0">
                <a:solidFill>
                  <a:schemeClr val="bg1"/>
                </a:solidFill>
                <a:latin typeface="Calibri" pitchFamily="34" charset="0"/>
                <a:ea typeface="Calibri" pitchFamily="34" charset="-122"/>
                <a:cs typeface="Calibri" pitchFamily="34" charset="-120"/>
              </a:rPr>
              <a:t>A DataOps pipeline for financial transactions</a:t>
            </a:r>
            <a:endParaRPr lang="en-US" sz="5200" dirty="0"/>
          </a:p>
        </p:txBody>
      </p:sp>
      <p:sp>
        <p:nvSpPr>
          <p:cNvPr id="4" name="Text 2"/>
          <p:cNvSpPr txBox="1"/>
          <p:nvPr/>
        </p:nvSpPr>
        <p:spPr>
          <a:xfrm>
            <a:off x="548640" y="3794760"/>
            <a:ext cx="9601200" cy="548640"/>
          </a:xfrm>
          <a:prstGeom prst="rect">
            <a:avLst/>
          </a:prstGeom>
          <a:noFill/>
          <a:ln/>
        </p:spPr>
        <p:txBody>
          <a:bodyPr wrap="square" lIns="0" tIns="0" rIns="0" bIns="0" rtlCol="0" anchor="t"/>
          <a:lstStyle/>
          <a:p>
            <a:pPr marL="0" indent="0">
              <a:buNone/>
            </a:pPr>
            <a:r>
              <a:rPr lang="en-US" sz="2000" dirty="0">
                <a:solidFill>
                  <a:schemeClr val="accent6"/>
                </a:solidFill>
              </a:rPr>
              <a:t>Automated, tested and logged, from raw CSV to analytics and ML-ready tables, with no cloud account</a:t>
            </a:r>
            <a:endParaRPr lang="en-US" sz="2000" dirty="0"/>
          </a:p>
        </p:txBody>
      </p:sp>
      <p:sp>
        <p:nvSpPr>
          <p:cNvPr id="5" name="Text 3"/>
          <p:cNvSpPr txBox="1"/>
          <p:nvPr/>
        </p:nvSpPr>
        <p:spPr>
          <a:xfrm>
            <a:off x="548640" y="5852160"/>
            <a:ext cx="3657600" cy="365760"/>
          </a:xfrm>
          <a:prstGeom prst="rect">
            <a:avLst/>
          </a:prstGeom>
          <a:noFill/>
          <a:ln/>
        </p:spPr>
        <p:txBody>
          <a:bodyPr wrap="square" lIns="0" tIns="0" rIns="0" bIns="0" rtlCol="0" anchor="t"/>
          <a:lstStyle/>
          <a:p>
            <a:pPr marL="0" indent="0">
              <a:buNone/>
            </a:pPr>
            <a:r>
              <a:rPr lang="en-US" sz="1500" dirty="0">
                <a:solidFill>
                  <a:schemeClr val="accent6"/>
                </a:solidFill>
              </a:rPr>
              <a:t>Shree Ramji</a:t>
            </a:r>
            <a:endParaRPr lang="en-US" sz="1500" dirty="0"/>
          </a:p>
        </p:txBody>
      </p:sp>
      <p:sp>
        <p:nvSpPr>
          <p:cNvPr id="6" name="Text 4"/>
          <p:cNvSpPr txBox="1"/>
          <p:nvPr/>
        </p:nvSpPr>
        <p:spPr>
          <a:xfrm>
            <a:off x="4754880" y="5852160"/>
            <a:ext cx="6858000" cy="365760"/>
          </a:xfrm>
          <a:prstGeom prst="rect">
            <a:avLst/>
          </a:prstGeom>
          <a:noFill/>
          <a:ln/>
        </p:spPr>
        <p:txBody>
          <a:bodyPr wrap="square" lIns="0" tIns="0" rIns="0" bIns="0" rtlCol="0" anchor="t"/>
          <a:lstStyle/>
          <a:p>
            <a:pPr marL="0" indent="0">
              <a:buNone/>
            </a:pPr>
            <a:r>
              <a:rPr lang="en-US" sz="1500" dirty="0">
                <a:solidFill>
                  <a:schemeClr val="accent6"/>
                </a:solidFill>
                <a:latin typeface="Courier New" pitchFamily="34" charset="0"/>
                <a:ea typeface="Courier New" pitchFamily="34" charset="-122"/>
                <a:cs typeface="Courier New" pitchFamily="34" charset="-120"/>
              </a:rPr>
              <a:t>Python · PostgreSQL · Docker · Terraform · GitHub Actions</a:t>
            </a:r>
            <a:endParaRPr lang="en-US" sz="15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11094415" cy="320040"/>
          </a:xfrm>
          <a:prstGeom prst="rect">
            <a:avLst/>
          </a:prstGeom>
          <a:noFill/>
          <a:ln/>
        </p:spPr>
        <p:txBody>
          <a:bodyPr wrap="square" lIns="0" tIns="0" rIns="0" bIns="0" rtlCol="0"/>
          <a:lstStyle/>
          <a:p>
            <a:pPr marL="0" indent="0">
              <a:buNone/>
            </a:pPr>
            <a:r>
              <a:rPr lang="en-US" sz="1300" kern="0" spc="200" dirty="0">
                <a:solidFill>
                  <a:schemeClr val="accent1"/>
                </a:solidFill>
                <a:latin typeface="Courier New" pitchFamily="34" charset="0"/>
                <a:ea typeface="Courier New" pitchFamily="34" charset="-122"/>
                <a:cs typeface="Courier New" pitchFamily="34" charset="-120"/>
              </a:rPr>
              <a:t>THE BRIEF</a:t>
            </a:r>
            <a:endParaRPr lang="en-US" sz="1300" dirty="0"/>
          </a:p>
        </p:txBody>
      </p:sp>
      <p:sp>
        <p:nvSpPr>
          <p:cNvPr id="3" name="Text 0"/>
          <p:cNvSpPr>
            <a:spLocks noGrp="1"/>
          </p:cNvSpPr>
          <p:nvPr>
            <p:ph type="title" idx="101" hasCustomPrompt="1"/>
          </p:nvPr>
        </p:nvSpPr>
        <p:spPr>
          <a:xfrm>
            <a:off x="548640" y="731520"/>
            <a:ext cx="11094415" cy="731520"/>
          </a:xfrm>
          <a:prstGeom prst="rect">
            <a:avLst/>
          </a:prstGeom>
          <a:noFill/>
          <a:ln/>
        </p:spPr>
        <p:txBody>
          <a:bodyPr wrap="square" lIns="0" tIns="0" rIns="0" bIns="0" rtlCol="0" anchor="t"/>
          <a:lstStyle/>
          <a:p>
            <a:pPr marL="0" indent="0" algn="l">
              <a:buNone/>
            </a:pPr>
            <a:r>
              <a:rPr lang="en-US" sz="3400" b="1" dirty="0">
                <a:solidFill>
                  <a:schemeClr val="tx1"/>
                </a:solidFill>
              </a:rPr>
              <a:t>Every requirement met, no cloud account needed</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2966720"/>
        </p:xfrm>
        <a:graphic>
          <a:graphicData uri="http://schemas.openxmlformats.org/drawingml/2006/table">
            <a:tbl>
              <a:tblPr/>
              <a:tblGrid>
                <a:gridCol w="2743200">
                  <a:extLst>
                    <a:ext uri="{9D8B030D-6E8A-4147-A177-3AD203B41FA5}">
                      <a16:colId xmlns:a16="http://schemas.microsoft.com/office/drawing/2014/main" val="20000"/>
                    </a:ext>
                  </a:extLst>
                </a:gridCol>
                <a:gridCol w="8351215">
                  <a:extLst>
                    <a:ext uri="{9D8B030D-6E8A-4147-A177-3AD203B41FA5}">
                      <a16:colId xmlns:a16="http://schemas.microsoft.com/office/drawing/2014/main" val="20001"/>
                    </a:ext>
                  </a:extLst>
                </a:gridCol>
              </a:tblGrid>
              <a:tr h="0">
                <a:tc>
                  <a:txBody>
                    <a:bodyPr/>
                    <a:lstStyle/>
                    <a:p>
                      <a:pPr marL="0" indent="0">
                        <a:buNone/>
                      </a:pPr>
                      <a:r>
                        <a:rPr lang="en-US" sz="1600" b="1" dirty="0">
                          <a:solidFill>
                            <a:schemeClr val="bg1"/>
                          </a:solidFill>
                        </a:rPr>
                        <a:t>Requirement</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rPr>
                        <a:t>How it’s met</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0">
                <a:tc>
                  <a:txBody>
                    <a:bodyPr/>
                    <a:lstStyle/>
                    <a:p>
                      <a:pPr marL="0" indent="0">
                        <a:buNone/>
                      </a:pPr>
                      <a:r>
                        <a:rPr lang="en-US" sz="1600" dirty="0">
                          <a:solidFill>
                            <a:schemeClr val="tx1"/>
                          </a:solidFill>
                        </a:rPr>
                        <a:t>Ingest</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Every CSV / JSON in a local landing folder (ingest.py)</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0">
                <a:tc>
                  <a:txBody>
                    <a:bodyPr/>
                    <a:lstStyle/>
                    <a:p>
                      <a:pPr marL="0" indent="0">
                        <a:buNone/>
                      </a:pPr>
                      <a:r>
                        <a:rPr lang="en-US" sz="1600" dirty="0">
                          <a:solidFill>
                            <a:schemeClr val="tx1"/>
                          </a:solidFill>
                        </a:rPr>
                        <a:t>Transform</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Python + pandas: clean, validate, enrich, aggregate (transform.py)</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0">
                <a:tc>
                  <a:txBody>
                    <a:bodyPr/>
                    <a:lstStyle/>
                    <a:p>
                      <a:pPr marL="0" indent="0">
                        <a:buNone/>
                      </a:pPr>
                      <a:r>
                        <a:rPr lang="en-US" sz="1600" dirty="0">
                          <a:solidFill>
                            <a:schemeClr val="tx1"/>
                          </a:solidFill>
                        </a:rPr>
                        <a:t>Store</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Parquet files + PostgreSQL in Docker as the mock Redshift (store.py)</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0">
                <a:tc>
                  <a:txBody>
                    <a:bodyPr/>
                    <a:lstStyle/>
                    <a:p>
                      <a:pPr marL="0" indent="0">
                        <a:buNone/>
                      </a:pPr>
                      <a:r>
                        <a:rPr lang="en-US" sz="1600" dirty="0">
                          <a:solidFill>
                            <a:schemeClr val="tx1"/>
                          </a:solidFill>
                        </a:rPr>
                        <a:t>CI/CD</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GitHub Actions on GitHub’s free runners: test → validate → run → verify</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0">
                <a:tc>
                  <a:txBody>
                    <a:bodyPr/>
                    <a:lstStyle/>
                    <a:p>
                      <a:pPr marL="0" indent="0">
                        <a:buNone/>
                      </a:pPr>
                      <a:r>
                        <a:rPr lang="en-US" sz="1600" dirty="0">
                          <a:solidFill>
                            <a:schemeClr val="tx1"/>
                          </a:solidFill>
                        </a:rPr>
                        <a:t>Infra as Code</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Docker Compose and Terraform (Docker provider)</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0">
                <a:tc>
                  <a:txBody>
                    <a:bodyPr/>
                    <a:lstStyle/>
                    <a:p>
                      <a:pPr marL="0" indent="0">
                        <a:buNone/>
                      </a:pPr>
                      <a:r>
                        <a:rPr lang="en-US" sz="1600" dirty="0">
                          <a:solidFill>
                            <a:schemeClr val="tx1"/>
                          </a:solidFill>
                        </a:rPr>
                        <a:t>Monitor &amp; log</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JSON log file, run report, run history (logger.py, metrics.py)</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0">
                <a:tc>
                  <a:txBody>
                    <a:bodyPr/>
                    <a:lstStyle/>
                    <a:p>
                      <a:pPr marL="0" indent="0">
                        <a:buNone/>
                      </a:pPr>
                      <a:r>
                        <a:rPr lang="en-US" sz="1600" dirty="0">
                          <a:solidFill>
                            <a:schemeClr val="tx1"/>
                          </a:solidFill>
                        </a:rPr>
                        <a:t>Secrets</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Environment variables from a git-ignored .env; GitHub Secrets in CI</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11094415" cy="320040"/>
          </a:xfrm>
          <a:prstGeom prst="rect">
            <a:avLst/>
          </a:prstGeom>
          <a:noFill/>
          <a:ln/>
        </p:spPr>
        <p:txBody>
          <a:bodyPr wrap="square" lIns="0" tIns="0" rIns="0" bIns="0" rtlCol="0"/>
          <a:lstStyle/>
          <a:p>
            <a:pPr marL="0" indent="0">
              <a:buNone/>
            </a:pPr>
            <a:r>
              <a:rPr lang="en-US" sz="1300" kern="0" spc="200" dirty="0">
                <a:solidFill>
                  <a:schemeClr val="accent1"/>
                </a:solidFill>
                <a:latin typeface="Courier New" pitchFamily="34" charset="0"/>
                <a:ea typeface="Courier New" pitchFamily="34" charset="-122"/>
                <a:cs typeface="Courier New" pitchFamily="34" charset="-120"/>
              </a:rPr>
              <a:t>ARCHITECTURE</a:t>
            </a:r>
            <a:endParaRPr lang="en-US" sz="1300" dirty="0"/>
          </a:p>
        </p:txBody>
      </p:sp>
      <p:sp>
        <p:nvSpPr>
          <p:cNvPr id="3" name="Text 0"/>
          <p:cNvSpPr>
            <a:spLocks noGrp="1"/>
          </p:cNvSpPr>
          <p:nvPr>
            <p:ph type="title" idx="101" hasCustomPrompt="1"/>
          </p:nvPr>
        </p:nvSpPr>
        <p:spPr>
          <a:xfrm>
            <a:off x="548640" y="731520"/>
            <a:ext cx="11094415" cy="731520"/>
          </a:xfrm>
          <a:prstGeom prst="rect">
            <a:avLst/>
          </a:prstGeom>
          <a:noFill/>
          <a:ln/>
        </p:spPr>
        <p:txBody>
          <a:bodyPr wrap="square" lIns="0" tIns="0" rIns="0" bIns="0" rtlCol="0" anchor="t"/>
          <a:lstStyle/>
          <a:p>
            <a:pPr marL="0" indent="0" algn="l">
              <a:buNone/>
            </a:pPr>
            <a:r>
              <a:rPr lang="en-US" sz="3400" b="1" dirty="0">
                <a:solidFill>
                  <a:schemeClr val="tx1"/>
                </a:solidFill>
              </a:rPr>
              <a:t>Six steps, with a gate before storage</a:t>
            </a:r>
            <a:endParaRPr lang="en-US" sz="3400" dirty="0"/>
          </a:p>
        </p:txBody>
      </p:sp>
      <p:sp>
        <p:nvSpPr>
          <p:cNvPr id="4" name="step-Source"/>
          <p:cNvSpPr/>
          <p:nvPr/>
        </p:nvSpPr>
        <p:spPr>
          <a:xfrm>
            <a:off x="548640" y="1828800"/>
            <a:ext cx="1529029" cy="1188720"/>
          </a:xfrm>
          <a:prstGeom prst="roundRect">
            <a:avLst>
              <a:gd name="adj" fmla="val 9231"/>
            </a:avLst>
          </a:prstGeom>
          <a:solidFill>
            <a:schemeClr val="bg1"/>
          </a:solidFill>
          <a:ln w="15875">
            <a:solidFill>
              <a:srgbClr val="C9D3DD"/>
            </a:solidFill>
            <a:prstDash val="solid"/>
          </a:ln>
        </p:spPr>
        <p:txBody>
          <a:bodyPr/>
          <a:lstStyle/>
          <a:p>
            <a:endParaRPr lang="en-IN"/>
          </a:p>
        </p:txBody>
      </p:sp>
      <p:sp>
        <p:nvSpPr>
          <p:cNvPr id="5" name="Text 3"/>
          <p:cNvSpPr txBox="1"/>
          <p:nvPr/>
        </p:nvSpPr>
        <p:spPr>
          <a:xfrm>
            <a:off x="685800" y="2029968"/>
            <a:ext cx="1254709" cy="365760"/>
          </a:xfrm>
          <a:prstGeom prst="rect">
            <a:avLst/>
          </a:prstGeom>
          <a:noFill/>
          <a:ln/>
        </p:spPr>
        <p:txBody>
          <a:bodyPr wrap="square" lIns="0" tIns="0" rIns="0" bIns="0" rtlCol="0" anchor="t"/>
          <a:lstStyle/>
          <a:p>
            <a:pPr marL="0" indent="0">
              <a:buNone/>
            </a:pPr>
            <a:r>
              <a:rPr lang="en-US" sz="1600" b="1" dirty="0">
                <a:solidFill>
                  <a:schemeClr val="tx1"/>
                </a:solidFill>
              </a:rPr>
              <a:t>Source</a:t>
            </a:r>
            <a:endParaRPr lang="en-US" sz="1600" dirty="0"/>
          </a:p>
        </p:txBody>
      </p:sp>
      <p:sp>
        <p:nvSpPr>
          <p:cNvPr id="6" name="Text 4"/>
          <p:cNvSpPr txBox="1"/>
          <p:nvPr/>
        </p:nvSpPr>
        <p:spPr>
          <a:xfrm>
            <a:off x="685800" y="2450592"/>
            <a:ext cx="1254709" cy="457200"/>
          </a:xfrm>
          <a:prstGeom prst="rect">
            <a:avLst/>
          </a:prstGeom>
          <a:noFill/>
          <a:ln/>
        </p:spPr>
        <p:txBody>
          <a:bodyPr wrap="square" lIns="0" tIns="0" rIns="0" bIns="0" rtlCol="0" anchor="t"/>
          <a:lstStyle/>
          <a:p>
            <a:pPr marL="0" indent="0">
              <a:buNone/>
            </a:pPr>
            <a:r>
              <a:rPr lang="en-US" sz="1200" dirty="0">
                <a:solidFill>
                  <a:schemeClr val="tx2"/>
                </a:solidFill>
              </a:rPr>
              <a:t>local landing folder</a:t>
            </a:r>
            <a:endParaRPr lang="en-US" sz="1200" dirty="0"/>
          </a:p>
        </p:txBody>
      </p:sp>
      <p:sp>
        <p:nvSpPr>
          <p:cNvPr id="7" name="Shape 5"/>
          <p:cNvSpPr/>
          <p:nvPr/>
        </p:nvSpPr>
        <p:spPr>
          <a:xfrm>
            <a:off x="2132533" y="2423160"/>
            <a:ext cx="274320" cy="0"/>
          </a:xfrm>
          <a:prstGeom prst="line">
            <a:avLst/>
          </a:prstGeom>
          <a:noFill/>
          <a:ln w="25400">
            <a:solidFill>
              <a:schemeClr val="accent1"/>
            </a:solidFill>
            <a:prstDash val="solid"/>
            <a:tailEnd type="triangle"/>
          </a:ln>
        </p:spPr>
        <p:txBody>
          <a:bodyPr/>
          <a:lstStyle/>
          <a:p>
            <a:endParaRPr lang="en-IN"/>
          </a:p>
        </p:txBody>
      </p:sp>
      <p:sp>
        <p:nvSpPr>
          <p:cNvPr id="8" name="step-Ingest"/>
          <p:cNvSpPr/>
          <p:nvPr/>
        </p:nvSpPr>
        <p:spPr>
          <a:xfrm>
            <a:off x="2461717" y="1828800"/>
            <a:ext cx="1529029" cy="1188720"/>
          </a:xfrm>
          <a:prstGeom prst="roundRect">
            <a:avLst>
              <a:gd name="adj" fmla="val 9231"/>
            </a:avLst>
          </a:prstGeom>
          <a:solidFill>
            <a:schemeClr val="bg1"/>
          </a:solidFill>
          <a:ln w="15875">
            <a:solidFill>
              <a:srgbClr val="C9D3DD"/>
            </a:solidFill>
            <a:prstDash val="solid"/>
          </a:ln>
        </p:spPr>
        <p:txBody>
          <a:bodyPr/>
          <a:lstStyle/>
          <a:p>
            <a:endParaRPr lang="en-IN"/>
          </a:p>
        </p:txBody>
      </p:sp>
      <p:sp>
        <p:nvSpPr>
          <p:cNvPr id="9" name="Text 7"/>
          <p:cNvSpPr txBox="1"/>
          <p:nvPr/>
        </p:nvSpPr>
        <p:spPr>
          <a:xfrm>
            <a:off x="2598877" y="2029968"/>
            <a:ext cx="1254709" cy="365760"/>
          </a:xfrm>
          <a:prstGeom prst="rect">
            <a:avLst/>
          </a:prstGeom>
          <a:noFill/>
          <a:ln/>
        </p:spPr>
        <p:txBody>
          <a:bodyPr wrap="square" lIns="0" tIns="0" rIns="0" bIns="0" rtlCol="0" anchor="t"/>
          <a:lstStyle/>
          <a:p>
            <a:pPr marL="0" indent="0">
              <a:buNone/>
            </a:pPr>
            <a:r>
              <a:rPr lang="en-US" sz="1600" b="1" dirty="0">
                <a:solidFill>
                  <a:schemeClr val="tx1"/>
                </a:solidFill>
              </a:rPr>
              <a:t>Ingest</a:t>
            </a:r>
            <a:endParaRPr lang="en-US" sz="1600" dirty="0"/>
          </a:p>
        </p:txBody>
      </p:sp>
      <p:sp>
        <p:nvSpPr>
          <p:cNvPr id="10" name="Text 8"/>
          <p:cNvSpPr txBox="1"/>
          <p:nvPr/>
        </p:nvSpPr>
        <p:spPr>
          <a:xfrm>
            <a:off x="2598877" y="2450592"/>
            <a:ext cx="1254709" cy="457200"/>
          </a:xfrm>
          <a:prstGeom prst="rect">
            <a:avLst/>
          </a:prstGeom>
          <a:noFill/>
          <a:ln/>
        </p:spPr>
        <p:txBody>
          <a:bodyPr wrap="square" lIns="0" tIns="0" rIns="0" bIns="0" rtlCol="0" anchor="t"/>
          <a:lstStyle/>
          <a:p>
            <a:pPr marL="0" indent="0">
              <a:buNone/>
            </a:pPr>
            <a:r>
              <a:rPr lang="en-US" sz="1200" dirty="0">
                <a:solidFill>
                  <a:schemeClr val="tx2"/>
                </a:solidFill>
              </a:rPr>
              <a:t>CSV / JSON + lineage</a:t>
            </a:r>
            <a:endParaRPr lang="en-US" sz="1200" dirty="0"/>
          </a:p>
        </p:txBody>
      </p:sp>
      <p:sp>
        <p:nvSpPr>
          <p:cNvPr id="11" name="Shape 9"/>
          <p:cNvSpPr/>
          <p:nvPr/>
        </p:nvSpPr>
        <p:spPr>
          <a:xfrm>
            <a:off x="4045610" y="2423160"/>
            <a:ext cx="274320" cy="0"/>
          </a:xfrm>
          <a:prstGeom prst="line">
            <a:avLst/>
          </a:prstGeom>
          <a:noFill/>
          <a:ln w="25400">
            <a:solidFill>
              <a:schemeClr val="accent1"/>
            </a:solidFill>
            <a:prstDash val="solid"/>
            <a:tailEnd type="triangle"/>
          </a:ln>
        </p:spPr>
        <p:txBody>
          <a:bodyPr/>
          <a:lstStyle/>
          <a:p>
            <a:endParaRPr lang="en-IN"/>
          </a:p>
        </p:txBody>
      </p:sp>
      <p:sp>
        <p:nvSpPr>
          <p:cNvPr id="12" name="step-Clean"/>
          <p:cNvSpPr/>
          <p:nvPr/>
        </p:nvSpPr>
        <p:spPr>
          <a:xfrm>
            <a:off x="4374794" y="1828800"/>
            <a:ext cx="1529029" cy="1188720"/>
          </a:xfrm>
          <a:prstGeom prst="roundRect">
            <a:avLst>
              <a:gd name="adj" fmla="val 9231"/>
            </a:avLst>
          </a:prstGeom>
          <a:solidFill>
            <a:schemeClr val="bg1"/>
          </a:solidFill>
          <a:ln w="15875">
            <a:solidFill>
              <a:srgbClr val="C9D3DD"/>
            </a:solidFill>
            <a:prstDash val="solid"/>
          </a:ln>
        </p:spPr>
        <p:txBody>
          <a:bodyPr/>
          <a:lstStyle/>
          <a:p>
            <a:endParaRPr lang="en-IN"/>
          </a:p>
        </p:txBody>
      </p:sp>
      <p:sp>
        <p:nvSpPr>
          <p:cNvPr id="13" name="Text 11"/>
          <p:cNvSpPr txBox="1"/>
          <p:nvPr/>
        </p:nvSpPr>
        <p:spPr>
          <a:xfrm>
            <a:off x="4511954" y="2029968"/>
            <a:ext cx="1254709" cy="365760"/>
          </a:xfrm>
          <a:prstGeom prst="rect">
            <a:avLst/>
          </a:prstGeom>
          <a:noFill/>
          <a:ln/>
        </p:spPr>
        <p:txBody>
          <a:bodyPr wrap="square" lIns="0" tIns="0" rIns="0" bIns="0" rtlCol="0" anchor="t"/>
          <a:lstStyle/>
          <a:p>
            <a:pPr marL="0" indent="0">
              <a:buNone/>
            </a:pPr>
            <a:r>
              <a:rPr lang="en-US" sz="1600" b="1" dirty="0">
                <a:solidFill>
                  <a:schemeClr val="tx1"/>
                </a:solidFill>
              </a:rPr>
              <a:t>Clean</a:t>
            </a:r>
            <a:endParaRPr lang="en-US" sz="1600" dirty="0"/>
          </a:p>
        </p:txBody>
      </p:sp>
      <p:sp>
        <p:nvSpPr>
          <p:cNvPr id="14" name="Text 12"/>
          <p:cNvSpPr txBox="1"/>
          <p:nvPr/>
        </p:nvSpPr>
        <p:spPr>
          <a:xfrm>
            <a:off x="4511954" y="2450592"/>
            <a:ext cx="1254709" cy="457200"/>
          </a:xfrm>
          <a:prstGeom prst="rect">
            <a:avLst/>
          </a:prstGeom>
          <a:noFill/>
          <a:ln/>
        </p:spPr>
        <p:txBody>
          <a:bodyPr wrap="square" lIns="0" tIns="0" rIns="0" bIns="0" rtlCol="0" anchor="t"/>
          <a:lstStyle/>
          <a:p>
            <a:pPr marL="0" indent="0">
              <a:buNone/>
            </a:pPr>
            <a:r>
              <a:rPr lang="en-US" sz="1200" dirty="0">
                <a:solidFill>
                  <a:schemeClr val="tx2"/>
                </a:solidFill>
              </a:rPr>
              <a:t>types, rules, dedupe</a:t>
            </a:r>
            <a:endParaRPr lang="en-US" sz="1200" dirty="0"/>
          </a:p>
        </p:txBody>
      </p:sp>
      <p:sp>
        <p:nvSpPr>
          <p:cNvPr id="15" name="Shape 13"/>
          <p:cNvSpPr/>
          <p:nvPr/>
        </p:nvSpPr>
        <p:spPr>
          <a:xfrm>
            <a:off x="5958688" y="2423160"/>
            <a:ext cx="274320" cy="0"/>
          </a:xfrm>
          <a:prstGeom prst="line">
            <a:avLst/>
          </a:prstGeom>
          <a:noFill/>
          <a:ln w="25400">
            <a:solidFill>
              <a:schemeClr val="accent1"/>
            </a:solidFill>
            <a:prstDash val="solid"/>
            <a:tailEnd type="triangle"/>
          </a:ln>
        </p:spPr>
        <p:txBody>
          <a:bodyPr/>
          <a:lstStyle/>
          <a:p>
            <a:endParaRPr lang="en-IN"/>
          </a:p>
        </p:txBody>
      </p:sp>
      <p:sp>
        <p:nvSpPr>
          <p:cNvPr id="16" name="step-Quality gate"/>
          <p:cNvSpPr/>
          <p:nvPr/>
        </p:nvSpPr>
        <p:spPr>
          <a:xfrm>
            <a:off x="6287872" y="1828800"/>
            <a:ext cx="1529029" cy="1188720"/>
          </a:xfrm>
          <a:prstGeom prst="roundRect">
            <a:avLst>
              <a:gd name="adj" fmla="val 9231"/>
            </a:avLst>
          </a:prstGeom>
          <a:solidFill>
            <a:srgbClr val="FCEBDC"/>
          </a:solidFill>
          <a:ln w="15875">
            <a:solidFill>
              <a:schemeClr val="accent2"/>
            </a:solidFill>
            <a:prstDash val="solid"/>
          </a:ln>
        </p:spPr>
        <p:txBody>
          <a:bodyPr/>
          <a:lstStyle/>
          <a:p>
            <a:endParaRPr lang="en-IN"/>
          </a:p>
        </p:txBody>
      </p:sp>
      <p:sp>
        <p:nvSpPr>
          <p:cNvPr id="17" name="Text 15"/>
          <p:cNvSpPr txBox="1"/>
          <p:nvPr/>
        </p:nvSpPr>
        <p:spPr>
          <a:xfrm>
            <a:off x="6425032" y="2029968"/>
            <a:ext cx="1254709" cy="365760"/>
          </a:xfrm>
          <a:prstGeom prst="rect">
            <a:avLst/>
          </a:prstGeom>
          <a:noFill/>
          <a:ln/>
        </p:spPr>
        <p:txBody>
          <a:bodyPr wrap="square" lIns="0" tIns="0" rIns="0" bIns="0" rtlCol="0" anchor="t"/>
          <a:lstStyle/>
          <a:p>
            <a:pPr marL="0" indent="0">
              <a:buNone/>
            </a:pPr>
            <a:r>
              <a:rPr lang="en-US" sz="1600" b="1" dirty="0">
                <a:solidFill>
                  <a:schemeClr val="tx1"/>
                </a:solidFill>
              </a:rPr>
              <a:t>Quality gate</a:t>
            </a:r>
            <a:endParaRPr lang="en-US" sz="1600" dirty="0"/>
          </a:p>
        </p:txBody>
      </p:sp>
      <p:sp>
        <p:nvSpPr>
          <p:cNvPr id="18" name="Text 16"/>
          <p:cNvSpPr txBox="1"/>
          <p:nvPr/>
        </p:nvSpPr>
        <p:spPr>
          <a:xfrm>
            <a:off x="6425032" y="2450592"/>
            <a:ext cx="1254709" cy="457200"/>
          </a:xfrm>
          <a:prstGeom prst="rect">
            <a:avLst/>
          </a:prstGeom>
          <a:noFill/>
          <a:ln/>
        </p:spPr>
        <p:txBody>
          <a:bodyPr wrap="square" lIns="0" tIns="0" rIns="0" bIns="0" rtlCol="0" anchor="t"/>
          <a:lstStyle/>
          <a:p>
            <a:pPr marL="0" indent="0">
              <a:buNone/>
            </a:pPr>
            <a:r>
              <a:rPr lang="en-US" sz="1200" dirty="0">
                <a:solidFill>
                  <a:schemeClr val="tx2"/>
                </a:solidFill>
              </a:rPr>
              <a:t>fail = stop</a:t>
            </a:r>
            <a:endParaRPr lang="en-US" sz="1200" dirty="0"/>
          </a:p>
        </p:txBody>
      </p:sp>
      <p:sp>
        <p:nvSpPr>
          <p:cNvPr id="19" name="Shape 17"/>
          <p:cNvSpPr/>
          <p:nvPr/>
        </p:nvSpPr>
        <p:spPr>
          <a:xfrm>
            <a:off x="7871765" y="2423160"/>
            <a:ext cx="274320" cy="0"/>
          </a:xfrm>
          <a:prstGeom prst="line">
            <a:avLst/>
          </a:prstGeom>
          <a:noFill/>
          <a:ln w="25400">
            <a:solidFill>
              <a:schemeClr val="accent1"/>
            </a:solidFill>
            <a:prstDash val="solid"/>
            <a:tailEnd type="triangle"/>
          </a:ln>
        </p:spPr>
        <p:txBody>
          <a:bodyPr/>
          <a:lstStyle/>
          <a:p>
            <a:endParaRPr lang="en-IN"/>
          </a:p>
        </p:txBody>
      </p:sp>
      <p:sp>
        <p:nvSpPr>
          <p:cNvPr id="20" name="step-Enrich"/>
          <p:cNvSpPr/>
          <p:nvPr/>
        </p:nvSpPr>
        <p:spPr>
          <a:xfrm>
            <a:off x="8200949" y="1828800"/>
            <a:ext cx="1529029" cy="1188720"/>
          </a:xfrm>
          <a:prstGeom prst="roundRect">
            <a:avLst>
              <a:gd name="adj" fmla="val 9231"/>
            </a:avLst>
          </a:prstGeom>
          <a:solidFill>
            <a:schemeClr val="bg1"/>
          </a:solidFill>
          <a:ln w="15875">
            <a:solidFill>
              <a:srgbClr val="C9D3DD"/>
            </a:solidFill>
            <a:prstDash val="solid"/>
          </a:ln>
        </p:spPr>
        <p:txBody>
          <a:bodyPr/>
          <a:lstStyle/>
          <a:p>
            <a:endParaRPr lang="en-IN"/>
          </a:p>
        </p:txBody>
      </p:sp>
      <p:sp>
        <p:nvSpPr>
          <p:cNvPr id="21" name="Text 19"/>
          <p:cNvSpPr txBox="1"/>
          <p:nvPr/>
        </p:nvSpPr>
        <p:spPr>
          <a:xfrm>
            <a:off x="8338109" y="2029968"/>
            <a:ext cx="1254709" cy="365760"/>
          </a:xfrm>
          <a:prstGeom prst="rect">
            <a:avLst/>
          </a:prstGeom>
          <a:noFill/>
          <a:ln/>
        </p:spPr>
        <p:txBody>
          <a:bodyPr wrap="square" lIns="0" tIns="0" rIns="0" bIns="0" rtlCol="0" anchor="t"/>
          <a:lstStyle/>
          <a:p>
            <a:pPr marL="0" indent="0">
              <a:buNone/>
            </a:pPr>
            <a:r>
              <a:rPr lang="en-US" sz="1600" b="1" dirty="0">
                <a:solidFill>
                  <a:schemeClr val="tx1"/>
                </a:solidFill>
              </a:rPr>
              <a:t>Enrich</a:t>
            </a:r>
            <a:endParaRPr lang="en-US" sz="1600" dirty="0"/>
          </a:p>
        </p:txBody>
      </p:sp>
      <p:sp>
        <p:nvSpPr>
          <p:cNvPr id="22" name="Text 20"/>
          <p:cNvSpPr txBox="1"/>
          <p:nvPr/>
        </p:nvSpPr>
        <p:spPr>
          <a:xfrm>
            <a:off x="8338109" y="2450592"/>
            <a:ext cx="1254709" cy="457200"/>
          </a:xfrm>
          <a:prstGeom prst="rect">
            <a:avLst/>
          </a:prstGeom>
          <a:noFill/>
          <a:ln/>
        </p:spPr>
        <p:txBody>
          <a:bodyPr wrap="square" lIns="0" tIns="0" rIns="0" bIns="0" rtlCol="0" anchor="t"/>
          <a:lstStyle/>
          <a:p>
            <a:pPr marL="0" indent="0">
              <a:buNone/>
            </a:pPr>
            <a:r>
              <a:rPr lang="en-US" sz="1200" dirty="0">
                <a:solidFill>
                  <a:schemeClr val="tx2"/>
                </a:solidFill>
              </a:rPr>
              <a:t>flags + summaries</a:t>
            </a:r>
            <a:endParaRPr lang="en-US" sz="1200" dirty="0"/>
          </a:p>
        </p:txBody>
      </p:sp>
      <p:sp>
        <p:nvSpPr>
          <p:cNvPr id="23" name="Shape 21"/>
          <p:cNvSpPr/>
          <p:nvPr/>
        </p:nvSpPr>
        <p:spPr>
          <a:xfrm>
            <a:off x="9784842" y="2423160"/>
            <a:ext cx="274320" cy="0"/>
          </a:xfrm>
          <a:prstGeom prst="line">
            <a:avLst/>
          </a:prstGeom>
          <a:noFill/>
          <a:ln w="25400">
            <a:solidFill>
              <a:schemeClr val="accent1"/>
            </a:solidFill>
            <a:prstDash val="solid"/>
            <a:tailEnd type="triangle"/>
          </a:ln>
        </p:spPr>
        <p:txBody>
          <a:bodyPr/>
          <a:lstStyle/>
          <a:p>
            <a:endParaRPr lang="en-IN"/>
          </a:p>
        </p:txBody>
      </p:sp>
      <p:sp>
        <p:nvSpPr>
          <p:cNvPr id="24" name="step-Store"/>
          <p:cNvSpPr/>
          <p:nvPr/>
        </p:nvSpPr>
        <p:spPr>
          <a:xfrm>
            <a:off x="10114026" y="1828800"/>
            <a:ext cx="1529029" cy="1188720"/>
          </a:xfrm>
          <a:prstGeom prst="roundRect">
            <a:avLst>
              <a:gd name="adj" fmla="val 9231"/>
            </a:avLst>
          </a:prstGeom>
          <a:solidFill>
            <a:schemeClr val="tx1"/>
          </a:solidFill>
          <a:ln/>
        </p:spPr>
        <p:txBody>
          <a:bodyPr/>
          <a:lstStyle/>
          <a:p>
            <a:endParaRPr lang="en-IN"/>
          </a:p>
        </p:txBody>
      </p:sp>
      <p:sp>
        <p:nvSpPr>
          <p:cNvPr id="25" name="Text 23"/>
          <p:cNvSpPr txBox="1"/>
          <p:nvPr/>
        </p:nvSpPr>
        <p:spPr>
          <a:xfrm>
            <a:off x="10251186" y="2029968"/>
            <a:ext cx="1254709" cy="365760"/>
          </a:xfrm>
          <a:prstGeom prst="rect">
            <a:avLst/>
          </a:prstGeom>
          <a:noFill/>
          <a:ln/>
        </p:spPr>
        <p:txBody>
          <a:bodyPr wrap="square" lIns="0" tIns="0" rIns="0" bIns="0" rtlCol="0" anchor="t"/>
          <a:lstStyle/>
          <a:p>
            <a:pPr marL="0" indent="0">
              <a:buNone/>
            </a:pPr>
            <a:r>
              <a:rPr lang="en-US" sz="1600" b="1" dirty="0">
                <a:solidFill>
                  <a:schemeClr val="bg1"/>
                </a:solidFill>
              </a:rPr>
              <a:t>Store</a:t>
            </a:r>
            <a:endParaRPr lang="en-US" sz="1600" dirty="0"/>
          </a:p>
        </p:txBody>
      </p:sp>
      <p:sp>
        <p:nvSpPr>
          <p:cNvPr id="26" name="Text 24"/>
          <p:cNvSpPr txBox="1"/>
          <p:nvPr/>
        </p:nvSpPr>
        <p:spPr>
          <a:xfrm>
            <a:off x="10251186" y="2450592"/>
            <a:ext cx="1254709" cy="457200"/>
          </a:xfrm>
          <a:prstGeom prst="rect">
            <a:avLst/>
          </a:prstGeom>
          <a:noFill/>
          <a:ln/>
        </p:spPr>
        <p:txBody>
          <a:bodyPr wrap="square" lIns="0" tIns="0" rIns="0" bIns="0" rtlCol="0" anchor="t"/>
          <a:lstStyle/>
          <a:p>
            <a:pPr marL="0" indent="0">
              <a:buNone/>
            </a:pPr>
            <a:r>
              <a:rPr lang="en-US" sz="1200" dirty="0">
                <a:solidFill>
                  <a:schemeClr val="accent6"/>
                </a:solidFill>
              </a:rPr>
              <a:t>Parquet + Postgres</a:t>
            </a:r>
            <a:endParaRPr lang="en-US" sz="1200" dirty="0"/>
          </a:p>
        </p:txBody>
      </p:sp>
      <p:sp>
        <p:nvSpPr>
          <p:cNvPr id="27" name="output-Quarantine"/>
          <p:cNvSpPr/>
          <p:nvPr/>
        </p:nvSpPr>
        <p:spPr>
          <a:xfrm>
            <a:off x="548640" y="3429000"/>
            <a:ext cx="3515258" cy="1234440"/>
          </a:xfrm>
          <a:prstGeom prst="roundRect">
            <a:avLst>
              <a:gd name="adj" fmla="val 8889"/>
            </a:avLst>
          </a:prstGeom>
          <a:solidFill>
            <a:schemeClr val="bg2"/>
          </a:solidFill>
          <a:ln/>
        </p:spPr>
        <p:txBody>
          <a:bodyPr/>
          <a:lstStyle/>
          <a:p>
            <a:endParaRPr lang="en-IN"/>
          </a:p>
        </p:txBody>
      </p:sp>
      <p:sp>
        <p:nvSpPr>
          <p:cNvPr id="28" name="Text 26"/>
          <p:cNvSpPr txBox="1"/>
          <p:nvPr/>
        </p:nvSpPr>
        <p:spPr>
          <a:xfrm>
            <a:off x="777240" y="3611880"/>
            <a:ext cx="3058058" cy="365760"/>
          </a:xfrm>
          <a:prstGeom prst="rect">
            <a:avLst/>
          </a:prstGeom>
          <a:noFill/>
          <a:ln/>
        </p:spPr>
        <p:txBody>
          <a:bodyPr wrap="square" lIns="0" tIns="0" rIns="0" bIns="0" rtlCol="0" anchor="t"/>
          <a:lstStyle/>
          <a:p>
            <a:pPr marL="0" indent="0">
              <a:buNone/>
            </a:pPr>
            <a:r>
              <a:rPr lang="en-US" sz="1600" b="1" dirty="0">
                <a:solidFill>
                  <a:schemeClr val="tx1"/>
                </a:solidFill>
              </a:rPr>
              <a:t>Quarantine</a:t>
            </a:r>
            <a:endParaRPr lang="en-US" sz="1600" dirty="0"/>
          </a:p>
        </p:txBody>
      </p:sp>
      <p:sp>
        <p:nvSpPr>
          <p:cNvPr id="29" name="Text 27"/>
          <p:cNvSpPr txBox="1"/>
          <p:nvPr/>
        </p:nvSpPr>
        <p:spPr>
          <a:xfrm>
            <a:off x="777240" y="4005072"/>
            <a:ext cx="3058058" cy="548640"/>
          </a:xfrm>
          <a:prstGeom prst="rect">
            <a:avLst/>
          </a:prstGeom>
          <a:noFill/>
          <a:ln/>
        </p:spPr>
        <p:txBody>
          <a:bodyPr wrap="square" lIns="0" tIns="0" rIns="0" bIns="0" rtlCol="0" anchor="t"/>
          <a:lstStyle/>
          <a:p>
            <a:pPr marL="0" indent="0">
              <a:buNone/>
            </a:pPr>
            <a:r>
              <a:rPr lang="en-US" sz="1300" dirty="0">
                <a:solidFill>
                  <a:schemeClr val="tx2"/>
                </a:solidFill>
              </a:rPr>
              <a:t>Rejected rows saved as CSV with a reject_reason column</a:t>
            </a:r>
            <a:endParaRPr lang="en-US" sz="1300" dirty="0"/>
          </a:p>
        </p:txBody>
      </p:sp>
      <p:sp>
        <p:nvSpPr>
          <p:cNvPr id="30" name="output-Parquet data lake"/>
          <p:cNvSpPr/>
          <p:nvPr/>
        </p:nvSpPr>
        <p:spPr>
          <a:xfrm>
            <a:off x="4338218" y="3429000"/>
            <a:ext cx="3515258" cy="1234440"/>
          </a:xfrm>
          <a:prstGeom prst="roundRect">
            <a:avLst>
              <a:gd name="adj" fmla="val 8889"/>
            </a:avLst>
          </a:prstGeom>
          <a:solidFill>
            <a:schemeClr val="bg2"/>
          </a:solidFill>
          <a:ln/>
        </p:spPr>
        <p:txBody>
          <a:bodyPr/>
          <a:lstStyle/>
          <a:p>
            <a:endParaRPr lang="en-IN"/>
          </a:p>
        </p:txBody>
      </p:sp>
      <p:sp>
        <p:nvSpPr>
          <p:cNvPr id="31" name="Text 29"/>
          <p:cNvSpPr txBox="1"/>
          <p:nvPr/>
        </p:nvSpPr>
        <p:spPr>
          <a:xfrm>
            <a:off x="4566818" y="3611880"/>
            <a:ext cx="3058058" cy="365760"/>
          </a:xfrm>
          <a:prstGeom prst="rect">
            <a:avLst/>
          </a:prstGeom>
          <a:noFill/>
          <a:ln/>
        </p:spPr>
        <p:txBody>
          <a:bodyPr wrap="square" lIns="0" tIns="0" rIns="0" bIns="0" rtlCol="0" anchor="t"/>
          <a:lstStyle/>
          <a:p>
            <a:pPr marL="0" indent="0">
              <a:buNone/>
            </a:pPr>
            <a:r>
              <a:rPr lang="en-US" sz="1600" b="1" dirty="0">
                <a:solidFill>
                  <a:schemeClr val="tx1"/>
                </a:solidFill>
              </a:rPr>
              <a:t>Parquet data lake</a:t>
            </a:r>
            <a:endParaRPr lang="en-US" sz="1600" dirty="0"/>
          </a:p>
        </p:txBody>
      </p:sp>
      <p:sp>
        <p:nvSpPr>
          <p:cNvPr id="32" name="Text 30"/>
          <p:cNvSpPr txBox="1"/>
          <p:nvPr/>
        </p:nvSpPr>
        <p:spPr>
          <a:xfrm>
            <a:off x="4566818" y="4005072"/>
            <a:ext cx="3058058" cy="548640"/>
          </a:xfrm>
          <a:prstGeom prst="rect">
            <a:avLst/>
          </a:prstGeom>
          <a:noFill/>
          <a:ln/>
        </p:spPr>
        <p:txBody>
          <a:bodyPr wrap="square" lIns="0" tIns="0" rIns="0" bIns="0" rtlCol="0" anchor="t"/>
          <a:lstStyle/>
          <a:p>
            <a:pPr marL="0" indent="0">
              <a:buNone/>
            </a:pPr>
            <a:r>
              <a:rPr lang="en-US" sz="1300" dirty="0">
                <a:solidFill>
                  <a:schemeClr val="tx2"/>
                </a:solidFill>
              </a:rPr>
              <a:t>Partitioned by month, for analytics and ML</a:t>
            </a:r>
            <a:endParaRPr lang="en-US" sz="1300" dirty="0"/>
          </a:p>
        </p:txBody>
      </p:sp>
      <p:sp>
        <p:nvSpPr>
          <p:cNvPr id="33" name="output-PostgreSQL warehouse"/>
          <p:cNvSpPr/>
          <p:nvPr/>
        </p:nvSpPr>
        <p:spPr>
          <a:xfrm>
            <a:off x="8127797" y="3429000"/>
            <a:ext cx="3515258" cy="1234440"/>
          </a:xfrm>
          <a:prstGeom prst="roundRect">
            <a:avLst>
              <a:gd name="adj" fmla="val 8889"/>
            </a:avLst>
          </a:prstGeom>
          <a:solidFill>
            <a:schemeClr val="bg2"/>
          </a:solidFill>
          <a:ln/>
        </p:spPr>
        <p:txBody>
          <a:bodyPr/>
          <a:lstStyle/>
          <a:p>
            <a:endParaRPr lang="en-IN"/>
          </a:p>
        </p:txBody>
      </p:sp>
      <p:sp>
        <p:nvSpPr>
          <p:cNvPr id="34" name="Text 32"/>
          <p:cNvSpPr txBox="1"/>
          <p:nvPr/>
        </p:nvSpPr>
        <p:spPr>
          <a:xfrm>
            <a:off x="8356397" y="3611880"/>
            <a:ext cx="3058058" cy="365760"/>
          </a:xfrm>
          <a:prstGeom prst="rect">
            <a:avLst/>
          </a:prstGeom>
          <a:noFill/>
          <a:ln/>
        </p:spPr>
        <p:txBody>
          <a:bodyPr wrap="square" lIns="0" tIns="0" rIns="0" bIns="0" rtlCol="0" anchor="t"/>
          <a:lstStyle/>
          <a:p>
            <a:pPr marL="0" indent="0">
              <a:buNone/>
            </a:pPr>
            <a:r>
              <a:rPr lang="en-US" sz="1600" b="1" dirty="0">
                <a:solidFill>
                  <a:schemeClr val="tx1"/>
                </a:solidFill>
              </a:rPr>
              <a:t>PostgreSQL warehouse</a:t>
            </a:r>
            <a:endParaRPr lang="en-US" sz="1600" dirty="0"/>
          </a:p>
        </p:txBody>
      </p:sp>
      <p:sp>
        <p:nvSpPr>
          <p:cNvPr id="35" name="Text 33"/>
          <p:cNvSpPr txBox="1"/>
          <p:nvPr/>
        </p:nvSpPr>
        <p:spPr>
          <a:xfrm>
            <a:off x="8356397" y="4005072"/>
            <a:ext cx="3058058" cy="548640"/>
          </a:xfrm>
          <a:prstGeom prst="rect">
            <a:avLst/>
          </a:prstGeom>
          <a:noFill/>
          <a:ln/>
        </p:spPr>
        <p:txBody>
          <a:bodyPr wrap="square" lIns="0" tIns="0" rIns="0" bIns="0" rtlCol="0" anchor="t"/>
          <a:lstStyle/>
          <a:p>
            <a:pPr marL="0" indent="0">
              <a:buNone/>
            </a:pPr>
            <a:r>
              <a:rPr lang="en-US" sz="1300" dirty="0">
                <a:solidFill>
                  <a:schemeClr val="tx2"/>
                </a:solidFill>
              </a:rPr>
              <a:t>Mock Redshift in Docker: fact, daily and ML feature tables</a:t>
            </a:r>
            <a:endParaRPr lang="en-US" sz="1300" dirty="0"/>
          </a:p>
        </p:txBody>
      </p:sp>
      <p:sp>
        <p:nvSpPr>
          <p:cNvPr id="36" name="Text 34"/>
          <p:cNvSpPr txBox="1"/>
          <p:nvPr/>
        </p:nvSpPr>
        <p:spPr>
          <a:xfrm>
            <a:off x="548640" y="5212080"/>
            <a:ext cx="2011680" cy="411480"/>
          </a:xfrm>
          <a:prstGeom prst="rect">
            <a:avLst/>
          </a:prstGeom>
          <a:noFill/>
          <a:ln/>
        </p:spPr>
        <p:txBody>
          <a:bodyPr wrap="square" lIns="0" tIns="0" rIns="0" bIns="0" rtlCol="0" anchor="ctr"/>
          <a:lstStyle/>
          <a:p>
            <a:pPr marL="0" indent="0">
              <a:buNone/>
            </a:pPr>
            <a:r>
              <a:rPr lang="en-US" sz="1400" dirty="0">
                <a:solidFill>
                  <a:schemeClr val="tx2"/>
                </a:solidFill>
              </a:rPr>
              <a:t>Around every step:</a:t>
            </a:r>
            <a:endParaRPr lang="en-US" sz="1400" dirty="0"/>
          </a:p>
        </p:txBody>
      </p:sp>
      <p:sp>
        <p:nvSpPr>
          <p:cNvPr id="37" name="pill-GitHub Actions"/>
          <p:cNvSpPr/>
          <p:nvPr/>
        </p:nvSpPr>
        <p:spPr>
          <a:xfrm>
            <a:off x="2606040" y="5212080"/>
            <a:ext cx="1691640" cy="411480"/>
          </a:xfrm>
          <a:prstGeom prst="roundRect">
            <a:avLst>
              <a:gd name="adj" fmla="val 48889"/>
            </a:avLst>
          </a:prstGeom>
          <a:solidFill>
            <a:srgbClr val="DCE6F5"/>
          </a:solidFill>
          <a:ln/>
        </p:spPr>
        <p:txBody>
          <a:bodyPr/>
          <a:lstStyle/>
          <a:p>
            <a:endParaRPr lang="en-IN"/>
          </a:p>
        </p:txBody>
      </p:sp>
      <p:sp>
        <p:nvSpPr>
          <p:cNvPr id="38" name="Text 36"/>
          <p:cNvSpPr txBox="1"/>
          <p:nvPr/>
        </p:nvSpPr>
        <p:spPr>
          <a:xfrm>
            <a:off x="2606040" y="5212080"/>
            <a:ext cx="1691640" cy="411480"/>
          </a:xfrm>
          <a:prstGeom prst="rect">
            <a:avLst/>
          </a:prstGeom>
          <a:noFill/>
          <a:ln/>
        </p:spPr>
        <p:txBody>
          <a:bodyPr wrap="square" lIns="0" tIns="0" rIns="0" bIns="0" rtlCol="0" anchor="ctr"/>
          <a:lstStyle/>
          <a:p>
            <a:pPr marL="0" indent="0" algn="ctr">
              <a:buNone/>
            </a:pPr>
            <a:r>
              <a:rPr lang="en-US" sz="1200" dirty="0">
                <a:solidFill>
                  <a:srgbClr val="1E3F7A"/>
                </a:solidFill>
                <a:latin typeface="Courier New" pitchFamily="34" charset="0"/>
                <a:ea typeface="Courier New" pitchFamily="34" charset="-122"/>
                <a:cs typeface="Courier New" pitchFamily="34" charset="-120"/>
              </a:rPr>
              <a:t>GitHub Actions</a:t>
            </a:r>
            <a:endParaRPr lang="en-US" sz="1200" dirty="0"/>
          </a:p>
        </p:txBody>
      </p:sp>
      <p:sp>
        <p:nvSpPr>
          <p:cNvPr id="39" name="pill-Docker Compose"/>
          <p:cNvSpPr/>
          <p:nvPr/>
        </p:nvSpPr>
        <p:spPr>
          <a:xfrm>
            <a:off x="4480560" y="5212080"/>
            <a:ext cx="1691640" cy="411480"/>
          </a:xfrm>
          <a:prstGeom prst="roundRect">
            <a:avLst>
              <a:gd name="adj" fmla="val 48889"/>
            </a:avLst>
          </a:prstGeom>
          <a:solidFill>
            <a:srgbClr val="DCE6F5"/>
          </a:solidFill>
          <a:ln/>
        </p:spPr>
        <p:txBody>
          <a:bodyPr/>
          <a:lstStyle/>
          <a:p>
            <a:endParaRPr lang="en-IN"/>
          </a:p>
        </p:txBody>
      </p:sp>
      <p:sp>
        <p:nvSpPr>
          <p:cNvPr id="40" name="Text 38"/>
          <p:cNvSpPr txBox="1"/>
          <p:nvPr/>
        </p:nvSpPr>
        <p:spPr>
          <a:xfrm>
            <a:off x="4480560" y="5212080"/>
            <a:ext cx="1691640" cy="411480"/>
          </a:xfrm>
          <a:prstGeom prst="rect">
            <a:avLst/>
          </a:prstGeom>
          <a:noFill/>
          <a:ln/>
        </p:spPr>
        <p:txBody>
          <a:bodyPr wrap="square" lIns="0" tIns="0" rIns="0" bIns="0" rtlCol="0" anchor="ctr"/>
          <a:lstStyle/>
          <a:p>
            <a:pPr marL="0" indent="0" algn="ctr">
              <a:buNone/>
            </a:pPr>
            <a:r>
              <a:rPr lang="en-US" sz="1200" dirty="0">
                <a:solidFill>
                  <a:srgbClr val="1E3F7A"/>
                </a:solidFill>
                <a:latin typeface="Courier New" pitchFamily="34" charset="0"/>
                <a:ea typeface="Courier New" pitchFamily="34" charset="-122"/>
                <a:cs typeface="Courier New" pitchFamily="34" charset="-120"/>
              </a:rPr>
              <a:t>Docker Compose</a:t>
            </a:r>
            <a:endParaRPr lang="en-US" sz="1200" dirty="0"/>
          </a:p>
        </p:txBody>
      </p:sp>
      <p:sp>
        <p:nvSpPr>
          <p:cNvPr id="41" name="pill-Terraform"/>
          <p:cNvSpPr/>
          <p:nvPr/>
        </p:nvSpPr>
        <p:spPr>
          <a:xfrm>
            <a:off x="6355080" y="5212080"/>
            <a:ext cx="1691640" cy="411480"/>
          </a:xfrm>
          <a:prstGeom prst="roundRect">
            <a:avLst>
              <a:gd name="adj" fmla="val 48889"/>
            </a:avLst>
          </a:prstGeom>
          <a:solidFill>
            <a:srgbClr val="DCE6F5"/>
          </a:solidFill>
          <a:ln/>
        </p:spPr>
        <p:txBody>
          <a:bodyPr/>
          <a:lstStyle/>
          <a:p>
            <a:endParaRPr lang="en-IN"/>
          </a:p>
        </p:txBody>
      </p:sp>
      <p:sp>
        <p:nvSpPr>
          <p:cNvPr id="42" name="Text 40"/>
          <p:cNvSpPr txBox="1"/>
          <p:nvPr/>
        </p:nvSpPr>
        <p:spPr>
          <a:xfrm>
            <a:off x="6355080" y="5212080"/>
            <a:ext cx="1691640" cy="411480"/>
          </a:xfrm>
          <a:prstGeom prst="rect">
            <a:avLst/>
          </a:prstGeom>
          <a:noFill/>
          <a:ln/>
        </p:spPr>
        <p:txBody>
          <a:bodyPr wrap="square" lIns="0" tIns="0" rIns="0" bIns="0" rtlCol="0" anchor="ctr"/>
          <a:lstStyle/>
          <a:p>
            <a:pPr marL="0" indent="0" algn="ctr">
              <a:buNone/>
            </a:pPr>
            <a:r>
              <a:rPr lang="en-US" sz="1200" dirty="0">
                <a:solidFill>
                  <a:srgbClr val="1E3F7A"/>
                </a:solidFill>
                <a:latin typeface="Courier New" pitchFamily="34" charset="0"/>
                <a:ea typeface="Courier New" pitchFamily="34" charset="-122"/>
                <a:cs typeface="Courier New" pitchFamily="34" charset="-120"/>
              </a:rPr>
              <a:t>Terraform</a:t>
            </a:r>
            <a:endParaRPr lang="en-US" sz="1200" dirty="0"/>
          </a:p>
        </p:txBody>
      </p:sp>
      <p:sp>
        <p:nvSpPr>
          <p:cNvPr id="43" name="pill-JSON logs"/>
          <p:cNvSpPr/>
          <p:nvPr/>
        </p:nvSpPr>
        <p:spPr>
          <a:xfrm>
            <a:off x="8229600" y="5212080"/>
            <a:ext cx="1691640" cy="411480"/>
          </a:xfrm>
          <a:prstGeom prst="roundRect">
            <a:avLst>
              <a:gd name="adj" fmla="val 48889"/>
            </a:avLst>
          </a:prstGeom>
          <a:solidFill>
            <a:srgbClr val="DCE6F5"/>
          </a:solidFill>
          <a:ln/>
        </p:spPr>
        <p:txBody>
          <a:bodyPr/>
          <a:lstStyle/>
          <a:p>
            <a:endParaRPr lang="en-IN"/>
          </a:p>
        </p:txBody>
      </p:sp>
      <p:sp>
        <p:nvSpPr>
          <p:cNvPr id="44" name="Text 42"/>
          <p:cNvSpPr txBox="1"/>
          <p:nvPr/>
        </p:nvSpPr>
        <p:spPr>
          <a:xfrm>
            <a:off x="8229600" y="5212080"/>
            <a:ext cx="1691640" cy="411480"/>
          </a:xfrm>
          <a:prstGeom prst="rect">
            <a:avLst/>
          </a:prstGeom>
          <a:noFill/>
          <a:ln/>
        </p:spPr>
        <p:txBody>
          <a:bodyPr wrap="square" lIns="0" tIns="0" rIns="0" bIns="0" rtlCol="0" anchor="ctr"/>
          <a:lstStyle/>
          <a:p>
            <a:pPr marL="0" indent="0" algn="ctr">
              <a:buNone/>
            </a:pPr>
            <a:r>
              <a:rPr lang="en-US" sz="1200" dirty="0">
                <a:solidFill>
                  <a:srgbClr val="1E3F7A"/>
                </a:solidFill>
                <a:latin typeface="Courier New" pitchFamily="34" charset="0"/>
                <a:ea typeface="Courier New" pitchFamily="34" charset="-122"/>
                <a:cs typeface="Courier New" pitchFamily="34" charset="-120"/>
              </a:rPr>
              <a:t>JSON logs</a:t>
            </a:r>
            <a:endParaRPr lang="en-US" sz="1200" dirty="0"/>
          </a:p>
        </p:txBody>
      </p:sp>
      <p:sp>
        <p:nvSpPr>
          <p:cNvPr id="45" name="pill-.env secrets"/>
          <p:cNvSpPr/>
          <p:nvPr/>
        </p:nvSpPr>
        <p:spPr>
          <a:xfrm>
            <a:off x="10104120" y="5212080"/>
            <a:ext cx="1691640" cy="411480"/>
          </a:xfrm>
          <a:prstGeom prst="roundRect">
            <a:avLst>
              <a:gd name="adj" fmla="val 48889"/>
            </a:avLst>
          </a:prstGeom>
          <a:solidFill>
            <a:srgbClr val="DCE6F5"/>
          </a:solidFill>
          <a:ln/>
        </p:spPr>
        <p:txBody>
          <a:bodyPr/>
          <a:lstStyle/>
          <a:p>
            <a:endParaRPr lang="en-IN"/>
          </a:p>
        </p:txBody>
      </p:sp>
      <p:sp>
        <p:nvSpPr>
          <p:cNvPr id="46" name="Text 44"/>
          <p:cNvSpPr txBox="1"/>
          <p:nvPr/>
        </p:nvSpPr>
        <p:spPr>
          <a:xfrm>
            <a:off x="10104120" y="5212080"/>
            <a:ext cx="1691640" cy="411480"/>
          </a:xfrm>
          <a:prstGeom prst="rect">
            <a:avLst/>
          </a:prstGeom>
          <a:noFill/>
          <a:ln/>
        </p:spPr>
        <p:txBody>
          <a:bodyPr wrap="square" lIns="0" tIns="0" rIns="0" bIns="0" rtlCol="0" anchor="ctr"/>
          <a:lstStyle/>
          <a:p>
            <a:pPr marL="0" indent="0" algn="ctr">
              <a:buNone/>
            </a:pPr>
            <a:r>
              <a:rPr lang="en-US" sz="1200" dirty="0">
                <a:solidFill>
                  <a:srgbClr val="1E3F7A"/>
                </a:solidFill>
                <a:latin typeface="Courier New" pitchFamily="34" charset="0"/>
                <a:ea typeface="Courier New" pitchFamily="34" charset="-122"/>
                <a:cs typeface="Courier New" pitchFamily="34" charset="-120"/>
              </a:rPr>
              <a:t>.env secrets</a:t>
            </a:r>
            <a:endParaRPr lang="en-US" sz="1200" dirty="0"/>
          </a:p>
        </p:txBody>
      </p:sp>
      <p:sp>
        <p:nvSpPr>
          <p:cNvPr id="47"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11094415" cy="320040"/>
          </a:xfrm>
          <a:prstGeom prst="rect">
            <a:avLst/>
          </a:prstGeom>
          <a:noFill/>
          <a:ln/>
        </p:spPr>
        <p:txBody>
          <a:bodyPr wrap="square" lIns="0" tIns="0" rIns="0" bIns="0" rtlCol="0"/>
          <a:lstStyle/>
          <a:p>
            <a:pPr marL="0" indent="0">
              <a:buNone/>
            </a:pPr>
            <a:r>
              <a:rPr lang="en-US" sz="1300" kern="0" spc="200" dirty="0">
                <a:solidFill>
                  <a:schemeClr val="accent5"/>
                </a:solidFill>
                <a:latin typeface="Courier New" pitchFamily="34" charset="0"/>
                <a:ea typeface="Courier New" pitchFamily="34" charset="-122"/>
                <a:cs typeface="Courier New" pitchFamily="34" charset="-120"/>
              </a:rPr>
              <a:t>ONE RUN, REAL DATA</a:t>
            </a:r>
            <a:endParaRPr lang="en-US" sz="1300" dirty="0"/>
          </a:p>
        </p:txBody>
      </p:sp>
      <p:sp>
        <p:nvSpPr>
          <p:cNvPr id="3" name="Text 0"/>
          <p:cNvSpPr>
            <a:spLocks noGrp="1"/>
          </p:cNvSpPr>
          <p:nvPr>
            <p:ph type="title" idx="101" hasCustomPrompt="1"/>
          </p:nvPr>
        </p:nvSpPr>
        <p:spPr>
          <a:xfrm>
            <a:off x="548640" y="731520"/>
            <a:ext cx="11094415" cy="1280160"/>
          </a:xfrm>
          <a:prstGeom prst="rect">
            <a:avLst/>
          </a:prstGeom>
          <a:noFill/>
          <a:ln/>
        </p:spPr>
        <p:txBody>
          <a:bodyPr wrap="square" lIns="0" tIns="0" rIns="0" bIns="0" rtlCol="0" anchor="t"/>
          <a:lstStyle/>
          <a:p>
            <a:pPr marL="0" indent="0" algn="l">
              <a:buNone/>
            </a:pPr>
            <a:r>
              <a:rPr lang="en-US" sz="3600" b="1" dirty="0">
                <a:solidFill>
                  <a:schemeClr val="bg1"/>
                </a:solidFill>
              </a:rPr>
              <a:t>From raw CSV to three tables in a few seconds</a:t>
            </a:r>
            <a:endParaRPr lang="en-US" sz="3600" dirty="0"/>
          </a:p>
        </p:txBody>
      </p:sp>
      <p:sp>
        <p:nvSpPr>
          <p:cNvPr id="4" name="stat-rule-0"/>
          <p:cNvSpPr/>
          <p:nvPr/>
        </p:nvSpPr>
        <p:spPr>
          <a:xfrm>
            <a:off x="548640" y="2743200"/>
            <a:ext cx="2567864" cy="54864"/>
          </a:xfrm>
          <a:prstGeom prst="rect">
            <a:avLst/>
          </a:prstGeom>
          <a:solidFill>
            <a:schemeClr val="accent5"/>
          </a:solidFill>
          <a:ln/>
        </p:spPr>
        <p:txBody>
          <a:bodyPr/>
          <a:lstStyle/>
          <a:p>
            <a:endParaRPr lang="en-IN"/>
          </a:p>
        </p:txBody>
      </p:sp>
      <p:sp>
        <p:nvSpPr>
          <p:cNvPr id="5" name="Text 3"/>
          <p:cNvSpPr txBox="1"/>
          <p:nvPr/>
        </p:nvSpPr>
        <p:spPr>
          <a:xfrm>
            <a:off x="548640" y="2971800"/>
            <a:ext cx="2567864" cy="914400"/>
          </a:xfrm>
          <a:prstGeom prst="rect">
            <a:avLst/>
          </a:prstGeom>
          <a:noFill/>
          <a:ln/>
        </p:spPr>
        <p:txBody>
          <a:bodyPr wrap="square" lIns="0" tIns="0" rIns="0" bIns="0" rtlCol="0" anchor="t"/>
          <a:lstStyle/>
          <a:p>
            <a:pPr marL="0" indent="0">
              <a:buNone/>
            </a:pPr>
            <a:r>
              <a:rPr lang="en-US" sz="5400" b="1" dirty="0">
                <a:solidFill>
                  <a:schemeClr val="bg1"/>
                </a:solidFill>
              </a:rPr>
              <a:t>78,600</a:t>
            </a:r>
            <a:endParaRPr lang="en-US" sz="5400" dirty="0"/>
          </a:p>
        </p:txBody>
      </p:sp>
      <p:sp>
        <p:nvSpPr>
          <p:cNvPr id="6" name="Text 4"/>
          <p:cNvSpPr txBox="1"/>
          <p:nvPr/>
        </p:nvSpPr>
        <p:spPr>
          <a:xfrm>
            <a:off x="548640" y="3977640"/>
            <a:ext cx="2567864" cy="731520"/>
          </a:xfrm>
          <a:prstGeom prst="rect">
            <a:avLst/>
          </a:prstGeom>
          <a:noFill/>
          <a:ln/>
        </p:spPr>
        <p:txBody>
          <a:bodyPr wrap="square" lIns="0" tIns="0" rIns="0" bIns="0" rtlCol="0" anchor="t"/>
          <a:lstStyle/>
          <a:p>
            <a:pPr marL="0" indent="0">
              <a:buNone/>
            </a:pPr>
            <a:r>
              <a:rPr lang="en-US" sz="1500" dirty="0">
                <a:solidFill>
                  <a:schemeClr val="accent6"/>
                </a:solidFill>
              </a:rPr>
              <a:t>transactions ingested, cleaned and loaded</a:t>
            </a:r>
            <a:endParaRPr lang="en-US" sz="1500" dirty="0"/>
          </a:p>
        </p:txBody>
      </p:sp>
      <p:sp>
        <p:nvSpPr>
          <p:cNvPr id="7" name="stat-rule-1"/>
          <p:cNvSpPr/>
          <p:nvPr/>
        </p:nvSpPr>
        <p:spPr>
          <a:xfrm>
            <a:off x="3390824" y="2743200"/>
            <a:ext cx="2567864" cy="54864"/>
          </a:xfrm>
          <a:prstGeom prst="rect">
            <a:avLst/>
          </a:prstGeom>
          <a:solidFill>
            <a:schemeClr val="accent4"/>
          </a:solidFill>
          <a:ln/>
        </p:spPr>
        <p:txBody>
          <a:bodyPr/>
          <a:lstStyle/>
          <a:p>
            <a:endParaRPr lang="en-IN"/>
          </a:p>
        </p:txBody>
      </p:sp>
      <p:sp>
        <p:nvSpPr>
          <p:cNvPr id="8" name="Text 6"/>
          <p:cNvSpPr txBox="1"/>
          <p:nvPr/>
        </p:nvSpPr>
        <p:spPr>
          <a:xfrm>
            <a:off x="3390824" y="2971800"/>
            <a:ext cx="2567864" cy="914400"/>
          </a:xfrm>
          <a:prstGeom prst="rect">
            <a:avLst/>
          </a:prstGeom>
          <a:noFill/>
          <a:ln/>
        </p:spPr>
        <p:txBody>
          <a:bodyPr wrap="square" lIns="0" tIns="0" rIns="0" bIns="0" rtlCol="0" anchor="t"/>
          <a:lstStyle/>
          <a:p>
            <a:pPr marL="0" indent="0">
              <a:buNone/>
            </a:pPr>
            <a:r>
              <a:rPr lang="en-US" sz="5400" b="1" dirty="0">
                <a:solidFill>
                  <a:schemeClr val="bg1"/>
                </a:solidFill>
              </a:rPr>
              <a:t>1,825</a:t>
            </a:r>
            <a:endParaRPr lang="en-US" sz="5400" dirty="0"/>
          </a:p>
        </p:txBody>
      </p:sp>
      <p:sp>
        <p:nvSpPr>
          <p:cNvPr id="9" name="Text 7"/>
          <p:cNvSpPr txBox="1"/>
          <p:nvPr/>
        </p:nvSpPr>
        <p:spPr>
          <a:xfrm>
            <a:off x="3390824" y="3977640"/>
            <a:ext cx="2567864" cy="731520"/>
          </a:xfrm>
          <a:prstGeom prst="rect">
            <a:avLst/>
          </a:prstGeom>
          <a:noFill/>
          <a:ln/>
        </p:spPr>
        <p:txBody>
          <a:bodyPr wrap="square" lIns="0" tIns="0" rIns="0" bIns="0" rtlCol="0" anchor="t"/>
          <a:lstStyle/>
          <a:p>
            <a:pPr marL="0" indent="0">
              <a:buNone/>
            </a:pPr>
            <a:r>
              <a:rPr lang="en-US" sz="1500" dirty="0">
                <a:solidFill>
                  <a:schemeClr val="accent6"/>
                </a:solidFill>
              </a:rPr>
              <a:t>daily × region summary rows for BI</a:t>
            </a:r>
            <a:endParaRPr lang="en-US" sz="1500" dirty="0"/>
          </a:p>
        </p:txBody>
      </p:sp>
      <p:sp>
        <p:nvSpPr>
          <p:cNvPr id="10" name="stat-rule-2"/>
          <p:cNvSpPr/>
          <p:nvPr/>
        </p:nvSpPr>
        <p:spPr>
          <a:xfrm>
            <a:off x="6233008" y="2743200"/>
            <a:ext cx="2567864" cy="54864"/>
          </a:xfrm>
          <a:prstGeom prst="rect">
            <a:avLst/>
          </a:prstGeom>
          <a:solidFill>
            <a:schemeClr val="accent4"/>
          </a:solidFill>
          <a:ln/>
        </p:spPr>
        <p:txBody>
          <a:bodyPr/>
          <a:lstStyle/>
          <a:p>
            <a:endParaRPr lang="en-IN"/>
          </a:p>
        </p:txBody>
      </p:sp>
      <p:sp>
        <p:nvSpPr>
          <p:cNvPr id="11" name="Text 9"/>
          <p:cNvSpPr txBox="1"/>
          <p:nvPr/>
        </p:nvSpPr>
        <p:spPr>
          <a:xfrm>
            <a:off x="6233008" y="2971800"/>
            <a:ext cx="2567864" cy="914400"/>
          </a:xfrm>
          <a:prstGeom prst="rect">
            <a:avLst/>
          </a:prstGeom>
          <a:noFill/>
          <a:ln/>
        </p:spPr>
        <p:txBody>
          <a:bodyPr wrap="square" lIns="0" tIns="0" rIns="0" bIns="0" rtlCol="0" anchor="t"/>
          <a:lstStyle/>
          <a:p>
            <a:pPr marL="0" indent="0">
              <a:buNone/>
            </a:pPr>
            <a:r>
              <a:rPr lang="en-US" sz="5400" b="1" dirty="0">
                <a:solidFill>
                  <a:schemeClr val="bg1"/>
                </a:solidFill>
              </a:rPr>
              <a:t>1,161</a:t>
            </a:r>
            <a:endParaRPr lang="en-US" sz="5400" dirty="0"/>
          </a:p>
        </p:txBody>
      </p:sp>
      <p:sp>
        <p:nvSpPr>
          <p:cNvPr id="12" name="Text 10"/>
          <p:cNvSpPr txBox="1"/>
          <p:nvPr/>
        </p:nvSpPr>
        <p:spPr>
          <a:xfrm>
            <a:off x="6233008" y="3977640"/>
            <a:ext cx="2567864" cy="731520"/>
          </a:xfrm>
          <a:prstGeom prst="rect">
            <a:avLst/>
          </a:prstGeom>
          <a:noFill/>
          <a:ln/>
        </p:spPr>
        <p:txBody>
          <a:bodyPr wrap="square" lIns="0" tIns="0" rIns="0" bIns="0" rtlCol="0" anchor="t"/>
          <a:lstStyle/>
          <a:p>
            <a:pPr marL="0" indent="0">
              <a:buNone/>
            </a:pPr>
            <a:r>
              <a:rPr lang="en-US" sz="1500" dirty="0">
                <a:solidFill>
                  <a:schemeClr val="accent6"/>
                </a:solidFill>
              </a:rPr>
              <a:t>wallet feature rows for fraud models</a:t>
            </a:r>
            <a:endParaRPr lang="en-US" sz="1500" dirty="0"/>
          </a:p>
        </p:txBody>
      </p:sp>
      <p:sp>
        <p:nvSpPr>
          <p:cNvPr id="13" name="stat-rule-3"/>
          <p:cNvSpPr/>
          <p:nvPr/>
        </p:nvSpPr>
        <p:spPr>
          <a:xfrm>
            <a:off x="9075191" y="2743200"/>
            <a:ext cx="2567864" cy="54864"/>
          </a:xfrm>
          <a:prstGeom prst="rect">
            <a:avLst/>
          </a:prstGeom>
          <a:solidFill>
            <a:schemeClr val="accent5"/>
          </a:solidFill>
          <a:ln/>
        </p:spPr>
        <p:txBody>
          <a:bodyPr/>
          <a:lstStyle/>
          <a:p>
            <a:endParaRPr lang="en-IN"/>
          </a:p>
        </p:txBody>
      </p:sp>
      <p:sp>
        <p:nvSpPr>
          <p:cNvPr id="14" name="Text 12"/>
          <p:cNvSpPr txBox="1"/>
          <p:nvPr/>
        </p:nvSpPr>
        <p:spPr>
          <a:xfrm>
            <a:off x="9075191" y="2971800"/>
            <a:ext cx="2567864" cy="914400"/>
          </a:xfrm>
          <a:prstGeom prst="rect">
            <a:avLst/>
          </a:prstGeom>
          <a:noFill/>
          <a:ln/>
        </p:spPr>
        <p:txBody>
          <a:bodyPr wrap="square" lIns="0" tIns="0" rIns="0" bIns="0" rtlCol="0" anchor="t"/>
          <a:lstStyle/>
          <a:p>
            <a:pPr marL="0" indent="0">
              <a:buNone/>
            </a:pPr>
            <a:r>
              <a:rPr lang="en-US" sz="5400" b="1" dirty="0">
                <a:solidFill>
                  <a:schemeClr val="bg1"/>
                </a:solidFill>
              </a:rPr>
              <a:t>6,495</a:t>
            </a:r>
            <a:endParaRPr lang="en-US" sz="5400" dirty="0"/>
          </a:p>
        </p:txBody>
      </p:sp>
      <p:sp>
        <p:nvSpPr>
          <p:cNvPr id="15" name="Text 13"/>
          <p:cNvSpPr txBox="1"/>
          <p:nvPr/>
        </p:nvSpPr>
        <p:spPr>
          <a:xfrm>
            <a:off x="9075191" y="3977640"/>
            <a:ext cx="2567864" cy="731520"/>
          </a:xfrm>
          <a:prstGeom prst="rect">
            <a:avLst/>
          </a:prstGeom>
          <a:noFill/>
          <a:ln/>
        </p:spPr>
        <p:txBody>
          <a:bodyPr wrap="square" lIns="0" tIns="0" rIns="0" bIns="0" rtlCol="0" anchor="t"/>
          <a:lstStyle/>
          <a:p>
            <a:pPr marL="0" indent="0">
              <a:buNone/>
            </a:pPr>
            <a:r>
              <a:rPr lang="en-US" sz="1500" dirty="0">
                <a:solidFill>
                  <a:schemeClr val="accent6"/>
                </a:solidFill>
              </a:rPr>
              <a:t>scam and phishing transactions flagged</a:t>
            </a:r>
            <a:endParaRPr lang="en-US" sz="1500" dirty="0"/>
          </a:p>
        </p:txBody>
      </p:sp>
      <p:sp>
        <p:nvSpPr>
          <p:cNvPr id="16" name="Text 14"/>
          <p:cNvSpPr txBox="1"/>
          <p:nvPr/>
        </p:nvSpPr>
        <p:spPr>
          <a:xfrm>
            <a:off x="548640" y="5760720"/>
            <a:ext cx="11094415" cy="365760"/>
          </a:xfrm>
          <a:prstGeom prst="rect">
            <a:avLst/>
          </a:prstGeom>
          <a:noFill/>
          <a:ln/>
        </p:spPr>
        <p:txBody>
          <a:bodyPr wrap="square" lIns="0" tIns="0" rIns="0" bIns="0" rtlCol="0" anchor="t"/>
          <a:lstStyle/>
          <a:p>
            <a:pPr marL="0" indent="0">
              <a:buNone/>
            </a:pPr>
            <a:r>
              <a:rPr lang="en-US" sz="1300" dirty="0">
                <a:solidFill>
                  <a:schemeClr val="accent6"/>
                </a:solidFill>
                <a:latin typeface="Courier New" pitchFamily="34" charset="0"/>
                <a:ea typeface="Courier New" pitchFamily="34" charset="-122"/>
                <a:cs typeface="Courier New" pitchFamily="34" charset="-120"/>
              </a:rPr>
              <a:t>fact_transactions · agg_daily_summary · ml_wallet_features · run_report.json</a:t>
            </a:r>
            <a:endParaRPr lang="en-US" sz="13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11094415" cy="320040"/>
          </a:xfrm>
          <a:prstGeom prst="rect">
            <a:avLst/>
          </a:prstGeom>
          <a:noFill/>
          <a:ln/>
        </p:spPr>
        <p:txBody>
          <a:bodyPr wrap="square" lIns="0" tIns="0" rIns="0" bIns="0" rtlCol="0"/>
          <a:lstStyle/>
          <a:p>
            <a:pPr marL="0" indent="0">
              <a:buNone/>
            </a:pPr>
            <a:r>
              <a:rPr lang="en-US" sz="1300" kern="0" spc="200" dirty="0">
                <a:solidFill>
                  <a:schemeClr val="accent1"/>
                </a:solidFill>
                <a:latin typeface="Courier New" pitchFamily="34" charset="0"/>
                <a:ea typeface="Courier New" pitchFamily="34" charset="-122"/>
                <a:cs typeface="Courier New" pitchFamily="34" charset="-120"/>
              </a:rPr>
              <a:t>TOOLS AND WHY</a:t>
            </a:r>
            <a:endParaRPr lang="en-US" sz="1300" dirty="0"/>
          </a:p>
        </p:txBody>
      </p:sp>
      <p:sp>
        <p:nvSpPr>
          <p:cNvPr id="3" name="Text 0"/>
          <p:cNvSpPr>
            <a:spLocks noGrp="1"/>
          </p:cNvSpPr>
          <p:nvPr>
            <p:ph type="title" idx="101" hasCustomPrompt="1"/>
          </p:nvPr>
        </p:nvSpPr>
        <p:spPr>
          <a:xfrm>
            <a:off x="548640" y="731520"/>
            <a:ext cx="11094415" cy="731520"/>
          </a:xfrm>
          <a:prstGeom prst="rect">
            <a:avLst/>
          </a:prstGeom>
          <a:noFill/>
          <a:ln/>
        </p:spPr>
        <p:txBody>
          <a:bodyPr wrap="square" lIns="0" tIns="0" rIns="0" bIns="0" rtlCol="0" anchor="t"/>
          <a:lstStyle/>
          <a:p>
            <a:pPr marL="0" indent="0" algn="l">
              <a:buNone/>
            </a:pPr>
            <a:r>
              <a:rPr lang="en-US" sz="3400" b="1" dirty="0">
                <a:solidFill>
                  <a:schemeClr val="tx1"/>
                </a:solidFill>
              </a:rPr>
              <a:t>Free, local tools that map one-to-one to AWS</a:t>
            </a:r>
            <a:endParaRPr lang="en-US" sz="3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2966720"/>
        </p:xfrm>
        <a:graphic>
          <a:graphicData uri="http://schemas.openxmlformats.org/drawingml/2006/table">
            <a:tbl>
              <a:tblPr/>
              <a:tblGrid>
                <a:gridCol w="274320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3596335">
                  <a:extLst>
                    <a:ext uri="{9D8B030D-6E8A-4147-A177-3AD203B41FA5}">
                      <a16:colId xmlns:a16="http://schemas.microsoft.com/office/drawing/2014/main" val="20002"/>
                    </a:ext>
                  </a:extLst>
                </a:gridCol>
              </a:tblGrid>
              <a:tr h="0">
                <a:tc>
                  <a:txBody>
                    <a:bodyPr/>
                    <a:lstStyle/>
                    <a:p>
                      <a:pPr marL="0" indent="0">
                        <a:buNone/>
                      </a:pPr>
                      <a:r>
                        <a:rPr lang="en-US" sz="1600" b="1" dirty="0">
                          <a:solidFill>
                            <a:schemeClr val="bg1"/>
                          </a:solidFill>
                        </a:rPr>
                        <a:t>Tool</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rPr>
                        <a:t>Why I chose it</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rPr>
                        <a:t>AWS equivalent later</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0">
                <a:tc>
                  <a:txBody>
                    <a:bodyPr/>
                    <a:lstStyle/>
                    <a:p>
                      <a:pPr marL="0" indent="0">
                        <a:buNone/>
                      </a:pPr>
                      <a:r>
                        <a:rPr lang="en-US" sz="1600" dirty="0">
                          <a:solidFill>
                            <a:schemeClr val="tx1"/>
                          </a:solidFill>
                        </a:rPr>
                        <a:t>Python + pandas</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Readable, testable, fast for this volume</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PySpark on Glue / EMR</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0">
                <a:tc>
                  <a:txBody>
                    <a:bodyPr/>
                    <a:lstStyle/>
                    <a:p>
                      <a:pPr marL="0" indent="0">
                        <a:buNone/>
                      </a:pPr>
                      <a:r>
                        <a:rPr lang="en-US" sz="1600" dirty="0">
                          <a:solidFill>
                            <a:schemeClr val="tx1"/>
                          </a:solidFill>
                        </a:rPr>
                        <a:t>Parquet</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Columnar, compressed, keeps the schema</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S3 + Athena</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0">
                <a:tc>
                  <a:txBody>
                    <a:bodyPr/>
                    <a:lstStyle/>
                    <a:p>
                      <a:pPr marL="0" indent="0">
                        <a:buNone/>
                      </a:pPr>
                      <a:r>
                        <a:rPr lang="en-US" sz="1600" dirty="0">
                          <a:solidFill>
                            <a:schemeClr val="tx1"/>
                          </a:solidFill>
                        </a:rPr>
                        <a:t>PostgreSQL</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Real SQL warehouse, mirrors Redshift</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Amazon Redshift</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0">
                <a:tc>
                  <a:txBody>
                    <a:bodyPr/>
                    <a:lstStyle/>
                    <a:p>
                      <a:pPr marL="0" indent="0">
                        <a:buNone/>
                      </a:pPr>
                      <a:r>
                        <a:rPr lang="en-US" sz="1600" dirty="0">
                          <a:solidFill>
                            <a:schemeClr val="tx1"/>
                          </a:solidFill>
                        </a:rPr>
                        <a:t>Docker Compose</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Whole stack with one command</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ECS / Fargate</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0">
                <a:tc>
                  <a:txBody>
                    <a:bodyPr/>
                    <a:lstStyle/>
                    <a:p>
                      <a:pPr marL="0" indent="0">
                        <a:buNone/>
                      </a:pPr>
                      <a:r>
                        <a:rPr lang="en-US" sz="1600" dirty="0">
                          <a:solidFill>
                            <a:schemeClr val="tx1"/>
                          </a:solidFill>
                        </a:rPr>
                        <a:t>Terraform</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Docker provider: real apply, no account</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AWS provider</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0">
                <a:tc>
                  <a:txBody>
                    <a:bodyPr/>
                    <a:lstStyle/>
                    <a:p>
                      <a:pPr marL="0" indent="0">
                        <a:buNone/>
                      </a:pPr>
                      <a:r>
                        <a:rPr lang="en-US" sz="1600" dirty="0">
                          <a:solidFill>
                            <a:schemeClr val="tx1"/>
                          </a:solidFill>
                        </a:rPr>
                        <a:t>GitHub Actions</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Free runners, CI next to the code</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Same</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0">
                <a:tc>
                  <a:txBody>
                    <a:bodyPr/>
                    <a:lstStyle/>
                    <a:p>
                      <a:pPr marL="0" indent="0">
                        <a:buNone/>
                      </a:pPr>
                      <a:r>
                        <a:rPr lang="en-US" sz="1600" dirty="0">
                          <a:solidFill>
                            <a:schemeClr val="tx1"/>
                          </a:solidFill>
                        </a:rPr>
                        <a:t>.env variables</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Simple, explicitly allowed by the brief</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Secrets Manager / Vault</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11094415" cy="320040"/>
          </a:xfrm>
          <a:prstGeom prst="rect">
            <a:avLst/>
          </a:prstGeom>
          <a:noFill/>
          <a:ln/>
        </p:spPr>
        <p:txBody>
          <a:bodyPr wrap="square" lIns="0" tIns="0" rIns="0" bIns="0" rtlCol="0"/>
          <a:lstStyle/>
          <a:p>
            <a:pPr marL="0" indent="0">
              <a:buNone/>
            </a:pPr>
            <a:r>
              <a:rPr lang="en-US" sz="1300" kern="0" spc="200" dirty="0">
                <a:solidFill>
                  <a:schemeClr val="accent1"/>
                </a:solidFill>
                <a:latin typeface="Courier New" pitchFamily="34" charset="0"/>
                <a:ea typeface="Courier New" pitchFamily="34" charset="-122"/>
                <a:cs typeface="Courier New" pitchFamily="34" charset="-120"/>
              </a:rPr>
              <a:t>TRANSFORM</a:t>
            </a:r>
            <a:endParaRPr lang="en-US" sz="1300" dirty="0"/>
          </a:p>
        </p:txBody>
      </p:sp>
      <p:sp>
        <p:nvSpPr>
          <p:cNvPr id="3" name="Text 0"/>
          <p:cNvSpPr>
            <a:spLocks noGrp="1"/>
          </p:cNvSpPr>
          <p:nvPr>
            <p:ph type="title" idx="101" hasCustomPrompt="1"/>
          </p:nvPr>
        </p:nvSpPr>
        <p:spPr>
          <a:xfrm>
            <a:off x="548640" y="731520"/>
            <a:ext cx="11094415" cy="731520"/>
          </a:xfrm>
          <a:prstGeom prst="rect">
            <a:avLst/>
          </a:prstGeom>
          <a:noFill/>
          <a:ln/>
        </p:spPr>
        <p:txBody>
          <a:bodyPr wrap="square" lIns="0" tIns="0" rIns="0" bIns="0" rtlCol="0" anchor="t"/>
          <a:lstStyle/>
          <a:p>
            <a:pPr marL="0" indent="0" algn="l">
              <a:buNone/>
            </a:pPr>
            <a:r>
              <a:rPr lang="en-US" sz="3400" b="1" dirty="0">
                <a:solidFill>
                  <a:schemeClr val="tx1"/>
                </a:solidFill>
              </a:rPr>
              <a:t>Clean, enrich, aggregate</a:t>
            </a:r>
            <a:endParaRPr lang="en-US" sz="3400" dirty="0"/>
          </a:p>
        </p:txBody>
      </p:sp>
      <p:sp>
        <p:nvSpPr>
          <p:cNvPr id="4" name="card-clean()"/>
          <p:cNvSpPr/>
          <p:nvPr/>
        </p:nvSpPr>
        <p:spPr>
          <a:xfrm>
            <a:off x="548640" y="1783080"/>
            <a:ext cx="3515258" cy="3200400"/>
          </a:xfrm>
          <a:prstGeom prst="roundRect">
            <a:avLst>
              <a:gd name="adj" fmla="val 3429"/>
            </a:avLst>
          </a:prstGeom>
          <a:solidFill>
            <a:schemeClr val="bg1"/>
          </a:solidFill>
          <a:ln w="15875">
            <a:solidFill>
              <a:srgbClr val="C9D3DD"/>
            </a:solidFill>
            <a:prstDash val="solid"/>
          </a:ln>
        </p:spPr>
        <p:txBody>
          <a:bodyPr/>
          <a:lstStyle/>
          <a:p>
            <a:endParaRPr lang="en-IN"/>
          </a:p>
        </p:txBody>
      </p:sp>
      <p:sp>
        <p:nvSpPr>
          <p:cNvPr id="5" name="Text 3"/>
          <p:cNvSpPr txBox="1"/>
          <p:nvPr/>
        </p:nvSpPr>
        <p:spPr>
          <a:xfrm>
            <a:off x="822960" y="2011680"/>
            <a:ext cx="2966618" cy="320040"/>
          </a:xfrm>
          <a:prstGeom prst="rect">
            <a:avLst/>
          </a:prstGeom>
          <a:noFill/>
          <a:ln/>
        </p:spPr>
        <p:txBody>
          <a:bodyPr wrap="square" lIns="0" tIns="0" rIns="0" bIns="0" rtlCol="0" anchor="t"/>
          <a:lstStyle/>
          <a:p>
            <a:pPr marL="0" indent="0">
              <a:buNone/>
            </a:pPr>
            <a:r>
              <a:rPr lang="en-US" sz="1400" dirty="0">
                <a:solidFill>
                  <a:schemeClr val="accent1"/>
                </a:solidFill>
                <a:latin typeface="Courier New" pitchFamily="34" charset="0"/>
                <a:ea typeface="Courier New" pitchFamily="34" charset="-122"/>
                <a:cs typeface="Courier New" pitchFamily="34" charset="-120"/>
              </a:rPr>
              <a:t>clean()</a:t>
            </a:r>
            <a:endParaRPr lang="en-US" sz="1400" dirty="0"/>
          </a:p>
        </p:txBody>
      </p:sp>
      <p:sp>
        <p:nvSpPr>
          <p:cNvPr id="6" name="Text 4"/>
          <p:cNvSpPr txBox="1"/>
          <p:nvPr/>
        </p:nvSpPr>
        <p:spPr>
          <a:xfrm>
            <a:off x="822960" y="2377440"/>
            <a:ext cx="2966618" cy="457200"/>
          </a:xfrm>
          <a:prstGeom prst="rect">
            <a:avLst/>
          </a:prstGeom>
          <a:noFill/>
          <a:ln/>
        </p:spPr>
        <p:txBody>
          <a:bodyPr wrap="square" lIns="0" tIns="0" rIns="0" bIns="0" rtlCol="0" anchor="t"/>
          <a:lstStyle/>
          <a:p>
            <a:pPr marL="0" indent="0">
              <a:buNone/>
            </a:pPr>
            <a:r>
              <a:rPr lang="en-US" sz="2000" b="1" dirty="0">
                <a:solidFill>
                  <a:schemeClr val="tx1"/>
                </a:solidFill>
              </a:rPr>
              <a:t>Make it trustworthy</a:t>
            </a:r>
            <a:endParaRPr lang="en-US" sz="2000" dirty="0"/>
          </a:p>
        </p:txBody>
      </p:sp>
      <p:sp>
        <p:nvSpPr>
          <p:cNvPr id="7" name="Text 5"/>
          <p:cNvSpPr txBox="1"/>
          <p:nvPr/>
        </p:nvSpPr>
        <p:spPr>
          <a:xfrm>
            <a:off x="822960" y="2971800"/>
            <a:ext cx="2966618"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Parse timestamps and numbers</a:t>
            </a:r>
            <a:endParaRPr lang="en-US" sz="1500" dirty="0"/>
          </a:p>
          <a:p>
            <a:pPr marL="342900" indent="-342900">
              <a:spcAft>
                <a:spcPts val="800"/>
              </a:spcAft>
              <a:buSzPct val="100000"/>
              <a:buChar char="•"/>
            </a:pPr>
            <a:r>
              <a:rPr lang="en-US" sz="1500" dirty="0">
                <a:solidFill>
                  <a:schemeClr val="tx2"/>
                </a:solidFill>
              </a:rPr>
              <a:t>Trim and lowercase text</a:t>
            </a:r>
            <a:endParaRPr lang="en-US" sz="1500" dirty="0"/>
          </a:p>
          <a:p>
            <a:pPr marL="342900" indent="-342900">
              <a:spcAft>
                <a:spcPts val="800"/>
              </a:spcAft>
              <a:buSzPct val="100000"/>
              <a:buChar char="•"/>
            </a:pPr>
            <a:r>
              <a:rPr lang="en-US" sz="1500" dirty="0">
                <a:solidFill>
                  <a:schemeClr val="tx2"/>
                </a:solidFill>
              </a:rPr>
              <a:t>Validate wallet addresses</a:t>
            </a:r>
            <a:endParaRPr lang="en-US" sz="1500" dirty="0"/>
          </a:p>
          <a:p>
            <a:pPr marL="342900" indent="-342900">
              <a:spcAft>
                <a:spcPts val="800"/>
              </a:spcAft>
              <a:buSzPct val="100000"/>
              <a:buChar char="•"/>
            </a:pPr>
            <a:r>
              <a:rPr lang="en-US" sz="1500" dirty="0">
                <a:solidFill>
                  <a:schemeClr val="tx2"/>
                </a:solidFill>
              </a:rPr>
              <a:t>Reject rows with a reason</a:t>
            </a:r>
            <a:endParaRPr lang="en-US" sz="1500" dirty="0"/>
          </a:p>
          <a:p>
            <a:pPr marL="342900" indent="-342900">
              <a:spcAft>
                <a:spcPts val="800"/>
              </a:spcAft>
              <a:buSzPct val="100000"/>
              <a:buChar char="•"/>
            </a:pPr>
            <a:r>
              <a:rPr lang="en-US" sz="1500" dirty="0">
                <a:solidFill>
                  <a:schemeClr val="tx2"/>
                </a:solidFill>
              </a:rPr>
              <a:t>Remove duplicates</a:t>
            </a:r>
            <a:endParaRPr lang="en-US" sz="1500" dirty="0"/>
          </a:p>
        </p:txBody>
      </p:sp>
      <p:sp>
        <p:nvSpPr>
          <p:cNvPr id="8" name="card-enrich()"/>
          <p:cNvSpPr/>
          <p:nvPr/>
        </p:nvSpPr>
        <p:spPr>
          <a:xfrm>
            <a:off x="4338218" y="1783080"/>
            <a:ext cx="3515258" cy="3200400"/>
          </a:xfrm>
          <a:prstGeom prst="roundRect">
            <a:avLst>
              <a:gd name="adj" fmla="val 3429"/>
            </a:avLst>
          </a:prstGeom>
          <a:solidFill>
            <a:schemeClr val="bg1"/>
          </a:solidFill>
          <a:ln w="15875">
            <a:solidFill>
              <a:srgbClr val="C9D3DD"/>
            </a:solidFill>
            <a:prstDash val="solid"/>
          </a:ln>
        </p:spPr>
        <p:txBody>
          <a:bodyPr/>
          <a:lstStyle/>
          <a:p>
            <a:endParaRPr lang="en-IN"/>
          </a:p>
        </p:txBody>
      </p:sp>
      <p:sp>
        <p:nvSpPr>
          <p:cNvPr id="9" name="Text 7"/>
          <p:cNvSpPr txBox="1"/>
          <p:nvPr/>
        </p:nvSpPr>
        <p:spPr>
          <a:xfrm>
            <a:off x="4612538" y="2011680"/>
            <a:ext cx="2966618" cy="320040"/>
          </a:xfrm>
          <a:prstGeom prst="rect">
            <a:avLst/>
          </a:prstGeom>
          <a:noFill/>
          <a:ln/>
        </p:spPr>
        <p:txBody>
          <a:bodyPr wrap="square" lIns="0" tIns="0" rIns="0" bIns="0" rtlCol="0" anchor="t"/>
          <a:lstStyle/>
          <a:p>
            <a:pPr marL="0" indent="0">
              <a:buNone/>
            </a:pPr>
            <a:r>
              <a:rPr lang="en-US" sz="1400" dirty="0">
                <a:solidFill>
                  <a:schemeClr val="accent1"/>
                </a:solidFill>
                <a:latin typeface="Courier New" pitchFamily="34" charset="0"/>
                <a:ea typeface="Courier New" pitchFamily="34" charset="-122"/>
                <a:cs typeface="Courier New" pitchFamily="34" charset="-120"/>
              </a:rPr>
              <a:t>enrich()</a:t>
            </a:r>
            <a:endParaRPr lang="en-US" sz="1400" dirty="0"/>
          </a:p>
        </p:txBody>
      </p:sp>
      <p:sp>
        <p:nvSpPr>
          <p:cNvPr id="10" name="Text 8"/>
          <p:cNvSpPr txBox="1"/>
          <p:nvPr/>
        </p:nvSpPr>
        <p:spPr>
          <a:xfrm>
            <a:off x="4612538" y="2377440"/>
            <a:ext cx="2966618" cy="457200"/>
          </a:xfrm>
          <a:prstGeom prst="rect">
            <a:avLst/>
          </a:prstGeom>
          <a:noFill/>
          <a:ln/>
        </p:spPr>
        <p:txBody>
          <a:bodyPr wrap="square" lIns="0" tIns="0" rIns="0" bIns="0" rtlCol="0" anchor="t"/>
          <a:lstStyle/>
          <a:p>
            <a:pPr marL="0" indent="0">
              <a:buNone/>
            </a:pPr>
            <a:r>
              <a:rPr lang="en-US" sz="2000" b="1" dirty="0">
                <a:solidFill>
                  <a:schemeClr val="tx1"/>
                </a:solidFill>
              </a:rPr>
              <a:t>Add meaning</a:t>
            </a:r>
            <a:endParaRPr lang="en-US" sz="2000" dirty="0"/>
          </a:p>
        </p:txBody>
      </p:sp>
      <p:sp>
        <p:nvSpPr>
          <p:cNvPr id="11" name="Text 9"/>
          <p:cNvSpPr txBox="1"/>
          <p:nvPr/>
        </p:nvSpPr>
        <p:spPr>
          <a:xfrm>
            <a:off x="4612538" y="2971800"/>
            <a:ext cx="2966618"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is_fraud, is_night, is_weekend</a:t>
            </a:r>
            <a:endParaRPr lang="en-US" sz="1500" dirty="0"/>
          </a:p>
          <a:p>
            <a:pPr marL="342900" indent="-342900">
              <a:spcAft>
                <a:spcPts val="800"/>
              </a:spcAft>
              <a:buSzPct val="100000"/>
              <a:buChar char="•"/>
            </a:pPr>
            <a:r>
              <a:rPr lang="en-US" sz="1500" dirty="0">
                <a:solidFill>
                  <a:schemeClr val="tx2"/>
                </a:solidFill>
              </a:rPr>
              <a:t>amount_bucket, risk_level</a:t>
            </a:r>
            <a:endParaRPr lang="en-US" sz="1500" dirty="0"/>
          </a:p>
          <a:p>
            <a:pPr marL="342900" indent="-342900">
              <a:spcAft>
                <a:spcPts val="800"/>
              </a:spcAft>
              <a:buSzPct val="100000"/>
              <a:buChar char="•"/>
            </a:pPr>
            <a:r>
              <a:rPr lang="en-US" sz="1500" dirty="0">
                <a:solidFill>
                  <a:schemeClr val="tx2"/>
                </a:solidFill>
              </a:rPr>
              <a:t>date, month, day of week</a:t>
            </a:r>
            <a:endParaRPr lang="en-US" sz="1500" dirty="0"/>
          </a:p>
          <a:p>
            <a:pPr marL="342900" indent="-342900">
              <a:spcAft>
                <a:spcPts val="800"/>
              </a:spcAft>
              <a:buSzPct val="100000"/>
              <a:buChar char="•"/>
            </a:pPr>
            <a:r>
              <a:rPr lang="en-US" sz="1500" dirty="0">
                <a:solidFill>
                  <a:schemeClr val="tx2"/>
                </a:solidFill>
              </a:rPr>
              <a:t>run id and processed time</a:t>
            </a:r>
            <a:endParaRPr lang="en-US" sz="1500" dirty="0"/>
          </a:p>
        </p:txBody>
      </p:sp>
      <p:sp>
        <p:nvSpPr>
          <p:cNvPr id="12" name="card-aggregate()"/>
          <p:cNvSpPr/>
          <p:nvPr/>
        </p:nvSpPr>
        <p:spPr>
          <a:xfrm>
            <a:off x="8127797" y="1783080"/>
            <a:ext cx="3515258" cy="3200400"/>
          </a:xfrm>
          <a:prstGeom prst="roundRect">
            <a:avLst>
              <a:gd name="adj" fmla="val 3429"/>
            </a:avLst>
          </a:prstGeom>
          <a:solidFill>
            <a:schemeClr val="bg1"/>
          </a:solidFill>
          <a:ln w="15875">
            <a:solidFill>
              <a:srgbClr val="C9D3DD"/>
            </a:solidFill>
            <a:prstDash val="solid"/>
          </a:ln>
        </p:spPr>
        <p:txBody>
          <a:bodyPr/>
          <a:lstStyle/>
          <a:p>
            <a:endParaRPr lang="en-IN"/>
          </a:p>
        </p:txBody>
      </p:sp>
      <p:sp>
        <p:nvSpPr>
          <p:cNvPr id="13" name="Text 11"/>
          <p:cNvSpPr txBox="1"/>
          <p:nvPr/>
        </p:nvSpPr>
        <p:spPr>
          <a:xfrm>
            <a:off x="8402117" y="2011680"/>
            <a:ext cx="2966618" cy="320040"/>
          </a:xfrm>
          <a:prstGeom prst="rect">
            <a:avLst/>
          </a:prstGeom>
          <a:noFill/>
          <a:ln/>
        </p:spPr>
        <p:txBody>
          <a:bodyPr wrap="square" lIns="0" tIns="0" rIns="0" bIns="0" rtlCol="0" anchor="t"/>
          <a:lstStyle/>
          <a:p>
            <a:pPr marL="0" indent="0">
              <a:buNone/>
            </a:pPr>
            <a:r>
              <a:rPr lang="en-US" sz="1400" dirty="0">
                <a:solidFill>
                  <a:schemeClr val="accent1"/>
                </a:solidFill>
                <a:latin typeface="Courier New" pitchFamily="34" charset="0"/>
                <a:ea typeface="Courier New" pitchFamily="34" charset="-122"/>
                <a:cs typeface="Courier New" pitchFamily="34" charset="-120"/>
              </a:rPr>
              <a:t>aggregate()</a:t>
            </a:r>
            <a:endParaRPr lang="en-US" sz="1400" dirty="0"/>
          </a:p>
        </p:txBody>
      </p:sp>
      <p:sp>
        <p:nvSpPr>
          <p:cNvPr id="14" name="Text 12"/>
          <p:cNvSpPr txBox="1"/>
          <p:nvPr/>
        </p:nvSpPr>
        <p:spPr>
          <a:xfrm>
            <a:off x="8402117" y="2377440"/>
            <a:ext cx="2966618" cy="457200"/>
          </a:xfrm>
          <a:prstGeom prst="rect">
            <a:avLst/>
          </a:prstGeom>
          <a:noFill/>
          <a:ln/>
        </p:spPr>
        <p:txBody>
          <a:bodyPr wrap="square" lIns="0" tIns="0" rIns="0" bIns="0" rtlCol="0" anchor="t"/>
          <a:lstStyle/>
          <a:p>
            <a:pPr marL="0" indent="0">
              <a:buNone/>
            </a:pPr>
            <a:r>
              <a:rPr lang="en-US" sz="2000" b="1" dirty="0">
                <a:solidFill>
                  <a:schemeClr val="tx1"/>
                </a:solidFill>
              </a:rPr>
              <a:t>Serve two users</a:t>
            </a:r>
            <a:endParaRPr lang="en-US" sz="2000" dirty="0"/>
          </a:p>
        </p:txBody>
      </p:sp>
      <p:sp>
        <p:nvSpPr>
          <p:cNvPr id="15" name="Text 13"/>
          <p:cNvSpPr txBox="1"/>
          <p:nvPr/>
        </p:nvSpPr>
        <p:spPr>
          <a:xfrm>
            <a:off x="8402117" y="2971800"/>
            <a:ext cx="2966618"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BI: daily totals, fraud rate and risk by region</a:t>
            </a:r>
            <a:endParaRPr lang="en-US" sz="1500" dirty="0"/>
          </a:p>
          <a:p>
            <a:pPr marL="342900" indent="-342900">
              <a:spcAft>
                <a:spcPts val="800"/>
              </a:spcAft>
              <a:buSzPct val="100000"/>
              <a:buChar char="•"/>
            </a:pPr>
            <a:r>
              <a:rPr lang="en-US" sz="1500" dirty="0">
                <a:solidFill>
                  <a:schemeClr val="tx2"/>
                </a:solidFill>
              </a:rPr>
              <a:t>ML: per-wallet volume, receivers, fraud and night ratios</a:t>
            </a:r>
            <a:endParaRPr lang="en-US" sz="15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11094415" cy="320040"/>
          </a:xfrm>
          <a:prstGeom prst="rect">
            <a:avLst/>
          </a:prstGeom>
          <a:noFill/>
          <a:ln/>
        </p:spPr>
        <p:txBody>
          <a:bodyPr wrap="square" lIns="0" tIns="0" rIns="0" bIns="0" rtlCol="0"/>
          <a:lstStyle/>
          <a:p>
            <a:pPr marL="0" indent="0">
              <a:buNone/>
            </a:pPr>
            <a:r>
              <a:rPr lang="en-US" sz="1300" kern="0" spc="200" dirty="0">
                <a:solidFill>
                  <a:schemeClr val="accent1"/>
                </a:solidFill>
                <a:latin typeface="Courier New" pitchFamily="34" charset="0"/>
                <a:ea typeface="Courier New" pitchFamily="34" charset="-122"/>
                <a:cs typeface="Courier New" pitchFamily="34" charset="-120"/>
              </a:rPr>
              <a:t>CI/CD AND AUTOMATION</a:t>
            </a:r>
            <a:endParaRPr lang="en-US" sz="1300" dirty="0"/>
          </a:p>
        </p:txBody>
      </p:sp>
      <p:sp>
        <p:nvSpPr>
          <p:cNvPr id="3" name="Text 0"/>
          <p:cNvSpPr>
            <a:spLocks noGrp="1"/>
          </p:cNvSpPr>
          <p:nvPr>
            <p:ph type="title" idx="101" hasCustomPrompt="1"/>
          </p:nvPr>
        </p:nvSpPr>
        <p:spPr>
          <a:xfrm>
            <a:off x="548640" y="731520"/>
            <a:ext cx="11094415" cy="731520"/>
          </a:xfrm>
          <a:prstGeom prst="rect">
            <a:avLst/>
          </a:prstGeom>
          <a:noFill/>
          <a:ln/>
        </p:spPr>
        <p:txBody>
          <a:bodyPr wrap="square" lIns="0" tIns="0" rIns="0" bIns="0" rtlCol="0" anchor="t"/>
          <a:lstStyle/>
          <a:p>
            <a:pPr marL="0" indent="0" algn="l">
              <a:buNone/>
            </a:pPr>
            <a:r>
              <a:rPr lang="en-US" sz="3400" b="1" dirty="0">
                <a:solidFill>
                  <a:schemeClr val="tx1"/>
                </a:solidFill>
              </a:rPr>
              <a:t>Every push is tested, validated and run for real</a:t>
            </a:r>
            <a:endParaRPr lang="en-US" sz="3400" dirty="0"/>
          </a:p>
        </p:txBody>
      </p:sp>
      <p:sp>
        <p:nvSpPr>
          <p:cNvPr id="4" name="auto-0"/>
          <p:cNvSpPr/>
          <p:nvPr/>
        </p:nvSpPr>
        <p:spPr>
          <a:xfrm>
            <a:off x="548640" y="1828800"/>
            <a:ext cx="3393338" cy="2377440"/>
          </a:xfrm>
          <a:prstGeom prst="roundRect">
            <a:avLst>
              <a:gd name="adj" fmla="val 4615"/>
            </a:avLst>
          </a:prstGeom>
          <a:solidFill>
            <a:schemeClr val="bg1"/>
          </a:solidFill>
          <a:ln w="15875">
            <a:solidFill>
              <a:srgbClr val="C9D3DD"/>
            </a:solidFill>
            <a:prstDash val="solid"/>
          </a:ln>
        </p:spPr>
        <p:txBody>
          <a:bodyPr/>
          <a:lstStyle/>
          <a:p>
            <a:endParaRPr lang="en-IN"/>
          </a:p>
        </p:txBody>
      </p:sp>
      <p:sp>
        <p:nvSpPr>
          <p:cNvPr id="5" name="Text 3"/>
          <p:cNvSpPr txBox="1"/>
          <p:nvPr/>
        </p:nvSpPr>
        <p:spPr>
          <a:xfrm>
            <a:off x="822960" y="2057400"/>
            <a:ext cx="2844698" cy="320040"/>
          </a:xfrm>
          <a:prstGeom prst="rect">
            <a:avLst/>
          </a:prstGeom>
          <a:noFill/>
          <a:ln/>
        </p:spPr>
        <p:txBody>
          <a:bodyPr wrap="square" lIns="0" tIns="0" rIns="0" bIns="0" rtlCol="0" anchor="t"/>
          <a:lstStyle/>
          <a:p>
            <a:pPr marL="0" indent="0">
              <a:buNone/>
            </a:pPr>
            <a:r>
              <a:rPr lang="en-US" sz="1300" dirty="0">
                <a:solidFill>
                  <a:schemeClr val="accent1"/>
                </a:solidFill>
                <a:latin typeface="Courier New" pitchFamily="34" charset="0"/>
                <a:ea typeface="Courier New" pitchFamily="34" charset="-122"/>
                <a:cs typeface="Courier New" pitchFamily="34" charset="-120"/>
              </a:rPr>
              <a:t>JOB 1 · test</a:t>
            </a:r>
            <a:endParaRPr lang="en-US" sz="1300" dirty="0"/>
          </a:p>
        </p:txBody>
      </p:sp>
      <p:sp>
        <p:nvSpPr>
          <p:cNvPr id="6" name="Text 4"/>
          <p:cNvSpPr txBox="1"/>
          <p:nvPr/>
        </p:nvSpPr>
        <p:spPr>
          <a:xfrm>
            <a:off x="822960" y="2468880"/>
            <a:ext cx="2844698" cy="457200"/>
          </a:xfrm>
          <a:prstGeom prst="rect">
            <a:avLst/>
          </a:prstGeom>
          <a:noFill/>
          <a:ln/>
        </p:spPr>
        <p:txBody>
          <a:bodyPr wrap="square" lIns="0" tIns="0" rIns="0" bIns="0" rtlCol="0" anchor="t"/>
          <a:lstStyle/>
          <a:p>
            <a:pPr marL="0" indent="0">
              <a:buNone/>
            </a:pPr>
            <a:r>
              <a:rPr lang="en-US" sz="2000" b="1" dirty="0">
                <a:solidFill>
                  <a:schemeClr val="tx1"/>
                </a:solidFill>
              </a:rPr>
              <a:t>Unit tests</a:t>
            </a:r>
            <a:endParaRPr lang="en-US" sz="2000" dirty="0"/>
          </a:p>
        </p:txBody>
      </p:sp>
      <p:sp>
        <p:nvSpPr>
          <p:cNvPr id="7" name="Text 5"/>
          <p:cNvSpPr txBox="1"/>
          <p:nvPr/>
        </p:nvSpPr>
        <p:spPr>
          <a:xfrm>
            <a:off x="822960" y="3017520"/>
            <a:ext cx="2844698" cy="1005840"/>
          </a:xfrm>
          <a:prstGeom prst="rect">
            <a:avLst/>
          </a:prstGeom>
          <a:noFill/>
          <a:ln/>
        </p:spPr>
        <p:txBody>
          <a:bodyPr wrap="square" lIns="0" tIns="0" rIns="0" bIns="0" rtlCol="0" anchor="t"/>
          <a:lstStyle/>
          <a:p>
            <a:pPr marL="0" indent="0">
              <a:buNone/>
            </a:pPr>
            <a:r>
              <a:rPr lang="en-US" sz="1500" dirty="0">
                <a:solidFill>
                  <a:schemeClr val="tx2"/>
                </a:solidFill>
              </a:rPr>
              <a:t>15 pytest cases: rules, flags, totals, gate, secrets</a:t>
            </a:r>
            <a:endParaRPr lang="en-US" sz="1500" dirty="0"/>
          </a:p>
        </p:txBody>
      </p:sp>
      <p:sp>
        <p:nvSpPr>
          <p:cNvPr id="8" name="Shape 6"/>
          <p:cNvSpPr/>
          <p:nvPr/>
        </p:nvSpPr>
        <p:spPr>
          <a:xfrm>
            <a:off x="4015130" y="3017520"/>
            <a:ext cx="310896" cy="0"/>
          </a:xfrm>
          <a:prstGeom prst="line">
            <a:avLst/>
          </a:prstGeom>
          <a:noFill/>
          <a:ln w="25400">
            <a:solidFill>
              <a:schemeClr val="accent1"/>
            </a:solidFill>
            <a:prstDash val="solid"/>
            <a:tailEnd type="triangle"/>
          </a:ln>
        </p:spPr>
        <p:txBody>
          <a:bodyPr/>
          <a:lstStyle/>
          <a:p>
            <a:endParaRPr lang="en-IN"/>
          </a:p>
        </p:txBody>
      </p:sp>
      <p:sp>
        <p:nvSpPr>
          <p:cNvPr id="9" name="auto-1"/>
          <p:cNvSpPr/>
          <p:nvPr/>
        </p:nvSpPr>
        <p:spPr>
          <a:xfrm>
            <a:off x="4399178" y="1828800"/>
            <a:ext cx="3393338" cy="2377440"/>
          </a:xfrm>
          <a:prstGeom prst="roundRect">
            <a:avLst>
              <a:gd name="adj" fmla="val 4615"/>
            </a:avLst>
          </a:prstGeom>
          <a:solidFill>
            <a:schemeClr val="bg1"/>
          </a:solidFill>
          <a:ln w="15875">
            <a:solidFill>
              <a:srgbClr val="C9D3DD"/>
            </a:solidFill>
            <a:prstDash val="solid"/>
          </a:ln>
        </p:spPr>
        <p:txBody>
          <a:bodyPr/>
          <a:lstStyle/>
          <a:p>
            <a:endParaRPr lang="en-IN"/>
          </a:p>
        </p:txBody>
      </p:sp>
      <p:sp>
        <p:nvSpPr>
          <p:cNvPr id="10" name="Text 8"/>
          <p:cNvSpPr txBox="1"/>
          <p:nvPr/>
        </p:nvSpPr>
        <p:spPr>
          <a:xfrm>
            <a:off x="4673498" y="2057400"/>
            <a:ext cx="2844698" cy="320040"/>
          </a:xfrm>
          <a:prstGeom prst="rect">
            <a:avLst/>
          </a:prstGeom>
          <a:noFill/>
          <a:ln/>
        </p:spPr>
        <p:txBody>
          <a:bodyPr wrap="square" lIns="0" tIns="0" rIns="0" bIns="0" rtlCol="0" anchor="t"/>
          <a:lstStyle/>
          <a:p>
            <a:pPr marL="0" indent="0">
              <a:buNone/>
            </a:pPr>
            <a:r>
              <a:rPr lang="en-US" sz="1300" dirty="0">
                <a:solidFill>
                  <a:schemeClr val="accent1"/>
                </a:solidFill>
                <a:latin typeface="Courier New" pitchFamily="34" charset="0"/>
                <a:ea typeface="Courier New" pitchFamily="34" charset="-122"/>
                <a:cs typeface="Courier New" pitchFamily="34" charset="-120"/>
              </a:rPr>
              <a:t>JOB 2 · terraform</a:t>
            </a:r>
            <a:endParaRPr lang="en-US" sz="1300" dirty="0"/>
          </a:p>
        </p:txBody>
      </p:sp>
      <p:sp>
        <p:nvSpPr>
          <p:cNvPr id="11" name="Text 9"/>
          <p:cNvSpPr txBox="1"/>
          <p:nvPr/>
        </p:nvSpPr>
        <p:spPr>
          <a:xfrm>
            <a:off x="4673498" y="2468880"/>
            <a:ext cx="2844698" cy="457200"/>
          </a:xfrm>
          <a:prstGeom prst="rect">
            <a:avLst/>
          </a:prstGeom>
          <a:noFill/>
          <a:ln/>
        </p:spPr>
        <p:txBody>
          <a:bodyPr wrap="square" lIns="0" tIns="0" rIns="0" bIns="0" rtlCol="0" anchor="t"/>
          <a:lstStyle/>
          <a:p>
            <a:pPr marL="0" indent="0">
              <a:buNone/>
            </a:pPr>
            <a:r>
              <a:rPr lang="en-US" sz="2000" b="1" dirty="0">
                <a:solidFill>
                  <a:schemeClr val="tx1"/>
                </a:solidFill>
              </a:rPr>
              <a:t>IaC checks</a:t>
            </a:r>
            <a:endParaRPr lang="en-US" sz="2000" dirty="0"/>
          </a:p>
        </p:txBody>
      </p:sp>
      <p:sp>
        <p:nvSpPr>
          <p:cNvPr id="12" name="Text 10"/>
          <p:cNvSpPr txBox="1"/>
          <p:nvPr/>
        </p:nvSpPr>
        <p:spPr>
          <a:xfrm>
            <a:off x="4673498" y="3017520"/>
            <a:ext cx="2844698" cy="1005840"/>
          </a:xfrm>
          <a:prstGeom prst="rect">
            <a:avLst/>
          </a:prstGeom>
          <a:noFill/>
          <a:ln/>
        </p:spPr>
        <p:txBody>
          <a:bodyPr wrap="square" lIns="0" tIns="0" rIns="0" bIns="0" rtlCol="0" anchor="t"/>
          <a:lstStyle/>
          <a:p>
            <a:pPr marL="0" indent="0">
              <a:buNone/>
            </a:pPr>
            <a:r>
              <a:rPr lang="en-US" sz="1500" dirty="0">
                <a:solidFill>
                  <a:schemeClr val="tx2"/>
                </a:solidFill>
              </a:rPr>
              <a:t>fmt and validate on the Docker-provider stack</a:t>
            </a:r>
            <a:endParaRPr lang="en-US" sz="1500" dirty="0"/>
          </a:p>
        </p:txBody>
      </p:sp>
      <p:sp>
        <p:nvSpPr>
          <p:cNvPr id="13" name="Shape 11"/>
          <p:cNvSpPr/>
          <p:nvPr/>
        </p:nvSpPr>
        <p:spPr>
          <a:xfrm>
            <a:off x="7865669" y="3017520"/>
            <a:ext cx="310896" cy="0"/>
          </a:xfrm>
          <a:prstGeom prst="line">
            <a:avLst/>
          </a:prstGeom>
          <a:noFill/>
          <a:ln w="25400">
            <a:solidFill>
              <a:schemeClr val="accent1"/>
            </a:solidFill>
            <a:prstDash val="solid"/>
            <a:tailEnd type="triangle"/>
          </a:ln>
        </p:spPr>
        <p:txBody>
          <a:bodyPr/>
          <a:lstStyle/>
          <a:p>
            <a:endParaRPr lang="en-IN"/>
          </a:p>
        </p:txBody>
      </p:sp>
      <p:sp>
        <p:nvSpPr>
          <p:cNvPr id="14" name="auto-2"/>
          <p:cNvSpPr/>
          <p:nvPr/>
        </p:nvSpPr>
        <p:spPr>
          <a:xfrm>
            <a:off x="8249717" y="1828800"/>
            <a:ext cx="3393338" cy="2377440"/>
          </a:xfrm>
          <a:prstGeom prst="roundRect">
            <a:avLst>
              <a:gd name="adj" fmla="val 4615"/>
            </a:avLst>
          </a:prstGeom>
          <a:solidFill>
            <a:schemeClr val="tx1"/>
          </a:solidFill>
          <a:ln/>
        </p:spPr>
        <p:txBody>
          <a:bodyPr/>
          <a:lstStyle/>
          <a:p>
            <a:endParaRPr lang="en-IN"/>
          </a:p>
        </p:txBody>
      </p:sp>
      <p:sp>
        <p:nvSpPr>
          <p:cNvPr id="15" name="Text 13"/>
          <p:cNvSpPr txBox="1"/>
          <p:nvPr/>
        </p:nvSpPr>
        <p:spPr>
          <a:xfrm>
            <a:off x="8524037" y="2057400"/>
            <a:ext cx="2844698" cy="320040"/>
          </a:xfrm>
          <a:prstGeom prst="rect">
            <a:avLst/>
          </a:prstGeom>
          <a:noFill/>
          <a:ln/>
        </p:spPr>
        <p:txBody>
          <a:bodyPr wrap="square" lIns="0" tIns="0" rIns="0" bIns="0" rtlCol="0" anchor="t"/>
          <a:lstStyle/>
          <a:p>
            <a:pPr marL="0" indent="0">
              <a:buNone/>
            </a:pPr>
            <a:r>
              <a:rPr lang="en-US" sz="1300" dirty="0">
                <a:solidFill>
                  <a:schemeClr val="accent5"/>
                </a:solidFill>
                <a:latin typeface="Courier New" pitchFamily="34" charset="0"/>
                <a:ea typeface="Courier New" pitchFamily="34" charset="-122"/>
                <a:cs typeface="Courier New" pitchFamily="34" charset="-120"/>
              </a:rPr>
              <a:t>JOB 3 · run-pipeline</a:t>
            </a:r>
            <a:endParaRPr lang="en-US" sz="1300" dirty="0"/>
          </a:p>
        </p:txBody>
      </p:sp>
      <p:sp>
        <p:nvSpPr>
          <p:cNvPr id="16" name="Text 14"/>
          <p:cNvSpPr txBox="1"/>
          <p:nvPr/>
        </p:nvSpPr>
        <p:spPr>
          <a:xfrm>
            <a:off x="8524037" y="2468880"/>
            <a:ext cx="2844698" cy="457200"/>
          </a:xfrm>
          <a:prstGeom prst="rect">
            <a:avLst/>
          </a:prstGeom>
          <a:noFill/>
          <a:ln/>
        </p:spPr>
        <p:txBody>
          <a:bodyPr wrap="square" lIns="0" tIns="0" rIns="0" bIns="0" rtlCol="0" anchor="t"/>
          <a:lstStyle/>
          <a:p>
            <a:pPr marL="0" indent="0">
              <a:buNone/>
            </a:pPr>
            <a:r>
              <a:rPr lang="en-US" sz="2000" b="1" dirty="0">
                <a:solidFill>
                  <a:schemeClr val="bg1"/>
                </a:solidFill>
              </a:rPr>
              <a:t>End-to-end</a:t>
            </a:r>
            <a:endParaRPr lang="en-US" sz="2000" dirty="0"/>
          </a:p>
        </p:txBody>
      </p:sp>
      <p:sp>
        <p:nvSpPr>
          <p:cNvPr id="17" name="Text 15"/>
          <p:cNvSpPr txBox="1"/>
          <p:nvPr/>
        </p:nvSpPr>
        <p:spPr>
          <a:xfrm>
            <a:off x="8524037" y="3017520"/>
            <a:ext cx="2844698" cy="1005840"/>
          </a:xfrm>
          <a:prstGeom prst="rect">
            <a:avLst/>
          </a:prstGeom>
          <a:noFill/>
          <a:ln/>
        </p:spPr>
        <p:txBody>
          <a:bodyPr wrap="square" lIns="0" tIns="0" rIns="0" bIns="0" rtlCol="0" anchor="t"/>
          <a:lstStyle/>
          <a:p>
            <a:pPr marL="0" indent="0">
              <a:buNone/>
            </a:pPr>
            <a:r>
              <a:rPr lang="en-US" sz="1500" dirty="0">
                <a:solidFill>
                  <a:schemeClr val="accent6"/>
                </a:solidFill>
              </a:rPr>
              <a:t>Build image, load Postgres, check row counts, expect the dirty batch to fail</a:t>
            </a:r>
            <a:endParaRPr lang="en-US" sz="1500" dirty="0"/>
          </a:p>
        </p:txBody>
      </p:sp>
      <p:sp>
        <p:nvSpPr>
          <p:cNvPr id="18" name="Text 16"/>
          <p:cNvSpPr txBox="1"/>
          <p:nvPr/>
        </p:nvSpPr>
        <p:spPr>
          <a:xfrm>
            <a:off x="548640" y="4754880"/>
            <a:ext cx="11094415" cy="457200"/>
          </a:xfrm>
          <a:prstGeom prst="rect">
            <a:avLst/>
          </a:prstGeom>
          <a:noFill/>
          <a:ln/>
        </p:spPr>
        <p:txBody>
          <a:bodyPr wrap="square" lIns="0" tIns="0" rIns="0" bIns="0" rtlCol="0" anchor="t"/>
          <a:lstStyle/>
          <a:p>
            <a:pPr marL="0" indent="0">
              <a:buNone/>
            </a:pPr>
            <a:r>
              <a:rPr lang="en-US" sz="1600" b="1" dirty="0">
                <a:solidFill>
                  <a:schemeClr val="tx1"/>
                </a:solidFill>
              </a:rPr>
              <a:t>Runs on: </a:t>
            </a:r>
            <a:r>
              <a:rPr lang="en-US" sz="1600" dirty="0">
                <a:solidFill>
                  <a:schemeClr val="tx2"/>
                </a:solidFill>
              </a:rPr>
              <a:t>GitHub’s free runners, every push and PR     </a:t>
            </a:r>
            <a:r>
              <a:rPr lang="en-US" sz="1600" b="1" dirty="0">
                <a:solidFill>
                  <a:schemeClr val="tx1"/>
                </a:solidFill>
              </a:rPr>
              <a:t>Fails on: </a:t>
            </a:r>
            <a:r>
              <a:rPr lang="en-US" sz="1600" dirty="0">
                <a:solidFill>
                  <a:schemeClr val="tx2"/>
                </a:solidFill>
              </a:rPr>
              <a:t>any non-zero exit code</a:t>
            </a:r>
            <a:endParaRPr lang="en-US" sz="16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11094415" cy="320040"/>
          </a:xfrm>
          <a:prstGeom prst="rect">
            <a:avLst/>
          </a:prstGeom>
          <a:noFill/>
          <a:ln/>
        </p:spPr>
        <p:txBody>
          <a:bodyPr wrap="square" lIns="0" tIns="0" rIns="0" bIns="0" rtlCol="0"/>
          <a:lstStyle/>
          <a:p>
            <a:pPr marL="0" indent="0">
              <a:buNone/>
            </a:pPr>
            <a:r>
              <a:rPr lang="en-US" sz="1300" kern="0" spc="200" dirty="0">
                <a:solidFill>
                  <a:schemeClr val="accent1"/>
                </a:solidFill>
                <a:latin typeface="Courier New" pitchFamily="34" charset="0"/>
                <a:ea typeface="Courier New" pitchFamily="34" charset="-122"/>
                <a:cs typeface="Courier New" pitchFamily="34" charset="-120"/>
              </a:rPr>
              <a:t>DATA QUALITY AND TESTING</a:t>
            </a:r>
            <a:endParaRPr lang="en-US" sz="1300" dirty="0"/>
          </a:p>
        </p:txBody>
      </p:sp>
      <p:sp>
        <p:nvSpPr>
          <p:cNvPr id="3" name="Text 0"/>
          <p:cNvSpPr>
            <a:spLocks noGrp="1"/>
          </p:cNvSpPr>
          <p:nvPr>
            <p:ph type="title" idx="101" hasCustomPrompt="1"/>
          </p:nvPr>
        </p:nvSpPr>
        <p:spPr>
          <a:xfrm>
            <a:off x="548640" y="731520"/>
            <a:ext cx="11094415" cy="731520"/>
          </a:xfrm>
          <a:prstGeom prst="rect">
            <a:avLst/>
          </a:prstGeom>
          <a:noFill/>
          <a:ln/>
        </p:spPr>
        <p:txBody>
          <a:bodyPr wrap="square" lIns="0" tIns="0" rIns="0" bIns="0" rtlCol="0" anchor="t"/>
          <a:lstStyle/>
          <a:p>
            <a:pPr marL="0" indent="0" algn="l">
              <a:buNone/>
            </a:pPr>
            <a:r>
              <a:rPr lang="en-US" sz="3400" b="1" dirty="0">
                <a:solidFill>
                  <a:schemeClr val="tx1"/>
                </a:solidFill>
              </a:rPr>
              <a:t>Three layers stop bad data reaching the warehouse</a:t>
            </a:r>
            <a:endParaRPr lang="en-US" sz="3400" dirty="0"/>
          </a:p>
        </p:txBody>
      </p:sp>
      <p:sp>
        <p:nvSpPr>
          <p:cNvPr id="4" name="layer-1"/>
          <p:cNvSpPr/>
          <p:nvPr/>
        </p:nvSpPr>
        <p:spPr>
          <a:xfrm>
            <a:off x="548640" y="1783080"/>
            <a:ext cx="11094415" cy="1280160"/>
          </a:xfrm>
          <a:prstGeom prst="roundRect">
            <a:avLst>
              <a:gd name="adj" fmla="val 8571"/>
            </a:avLst>
          </a:prstGeom>
          <a:solidFill>
            <a:schemeClr val="bg1"/>
          </a:solidFill>
          <a:ln w="15875">
            <a:solidFill>
              <a:srgbClr val="C9D3DD"/>
            </a:solidFill>
            <a:prstDash val="solid"/>
          </a:ln>
        </p:spPr>
        <p:txBody>
          <a:bodyPr/>
          <a:lstStyle/>
          <a:p>
            <a:endParaRPr lang="en-IN"/>
          </a:p>
        </p:txBody>
      </p:sp>
      <p:sp>
        <p:nvSpPr>
          <p:cNvPr id="5" name="Text 3"/>
          <p:cNvSpPr txBox="1"/>
          <p:nvPr/>
        </p:nvSpPr>
        <p:spPr>
          <a:xfrm>
            <a:off x="868680" y="2011680"/>
            <a:ext cx="640080" cy="822960"/>
          </a:xfrm>
          <a:prstGeom prst="rect">
            <a:avLst/>
          </a:prstGeom>
          <a:noFill/>
          <a:ln/>
        </p:spPr>
        <p:txBody>
          <a:bodyPr wrap="square" lIns="0" tIns="0" rIns="0" bIns="0" rtlCol="0" anchor="t"/>
          <a:lstStyle/>
          <a:p>
            <a:pPr marL="0" indent="0">
              <a:buNone/>
            </a:pPr>
            <a:r>
              <a:rPr lang="en-US" sz="4000" b="1" dirty="0">
                <a:solidFill>
                  <a:schemeClr val="accent1"/>
                </a:solidFill>
              </a:rPr>
              <a:t>1</a:t>
            </a:r>
            <a:endParaRPr lang="en-US" sz="4000" dirty="0"/>
          </a:p>
        </p:txBody>
      </p:sp>
      <p:sp>
        <p:nvSpPr>
          <p:cNvPr id="6" name="Text 4"/>
          <p:cNvSpPr txBox="1"/>
          <p:nvPr/>
        </p:nvSpPr>
        <p:spPr>
          <a:xfrm>
            <a:off x="1737360" y="1965960"/>
            <a:ext cx="9539935" cy="411480"/>
          </a:xfrm>
          <a:prstGeom prst="rect">
            <a:avLst/>
          </a:prstGeom>
          <a:noFill/>
          <a:ln/>
        </p:spPr>
        <p:txBody>
          <a:bodyPr wrap="square" lIns="0" tIns="0" rIns="0" bIns="0" rtlCol="0" anchor="t"/>
          <a:lstStyle/>
          <a:p>
            <a:pPr marL="0" indent="0">
              <a:buNone/>
            </a:pPr>
            <a:r>
              <a:rPr lang="en-US" sz="1900" b="1" dirty="0">
                <a:solidFill>
                  <a:schemeClr val="tx1"/>
                </a:solidFill>
              </a:rPr>
              <a:t>Row rules → quarantine</a:t>
            </a:r>
            <a:endParaRPr lang="en-US" sz="1900" dirty="0"/>
          </a:p>
        </p:txBody>
      </p:sp>
      <p:sp>
        <p:nvSpPr>
          <p:cNvPr id="7" name="Text 5"/>
          <p:cNvSpPr txBox="1"/>
          <p:nvPr/>
        </p:nvSpPr>
        <p:spPr>
          <a:xfrm>
            <a:off x="1737360" y="2404872"/>
            <a:ext cx="9539935" cy="548640"/>
          </a:xfrm>
          <a:prstGeom prst="rect">
            <a:avLst/>
          </a:prstGeom>
          <a:noFill/>
          <a:ln/>
        </p:spPr>
        <p:txBody>
          <a:bodyPr wrap="square" lIns="0" tIns="0" rIns="0" bIns="0" rtlCol="0" anchor="t"/>
          <a:lstStyle/>
          <a:p>
            <a:pPr marL="0" indent="0">
              <a:buNone/>
            </a:pPr>
            <a:r>
              <a:rPr lang="en-US" sz="1500" dirty="0">
                <a:solidFill>
                  <a:schemeClr val="tx2"/>
                </a:solidFill>
              </a:rPr>
              <a:t>Missing values, amount ≤ 0, risk score outside 0–100, unknown type, invalid wallet, bad timestamp. Each rejected row keeps its reason.</a:t>
            </a:r>
            <a:endParaRPr lang="en-US" sz="1500" dirty="0"/>
          </a:p>
        </p:txBody>
      </p:sp>
      <p:sp>
        <p:nvSpPr>
          <p:cNvPr id="8" name="layer-2"/>
          <p:cNvSpPr/>
          <p:nvPr/>
        </p:nvSpPr>
        <p:spPr>
          <a:xfrm>
            <a:off x="548640" y="3246120"/>
            <a:ext cx="11094415" cy="1280160"/>
          </a:xfrm>
          <a:prstGeom prst="roundRect">
            <a:avLst>
              <a:gd name="adj" fmla="val 8571"/>
            </a:avLst>
          </a:prstGeom>
          <a:solidFill>
            <a:srgbClr val="FCEBDC"/>
          </a:solidFill>
          <a:ln w="15875">
            <a:solidFill>
              <a:schemeClr val="accent2"/>
            </a:solidFill>
            <a:prstDash val="solid"/>
          </a:ln>
        </p:spPr>
        <p:txBody>
          <a:bodyPr/>
          <a:lstStyle/>
          <a:p>
            <a:endParaRPr lang="en-IN"/>
          </a:p>
        </p:txBody>
      </p:sp>
      <p:sp>
        <p:nvSpPr>
          <p:cNvPr id="9" name="Text 7"/>
          <p:cNvSpPr txBox="1"/>
          <p:nvPr/>
        </p:nvSpPr>
        <p:spPr>
          <a:xfrm>
            <a:off x="868680" y="3474720"/>
            <a:ext cx="640080" cy="822960"/>
          </a:xfrm>
          <a:prstGeom prst="rect">
            <a:avLst/>
          </a:prstGeom>
          <a:noFill/>
          <a:ln/>
        </p:spPr>
        <p:txBody>
          <a:bodyPr wrap="square" lIns="0" tIns="0" rIns="0" bIns="0" rtlCol="0" anchor="t"/>
          <a:lstStyle/>
          <a:p>
            <a:pPr marL="0" indent="0">
              <a:buNone/>
            </a:pPr>
            <a:r>
              <a:rPr lang="en-US" sz="4000" b="1" dirty="0">
                <a:solidFill>
                  <a:schemeClr val="accent3"/>
                </a:solidFill>
              </a:rPr>
              <a:t>2</a:t>
            </a:r>
            <a:endParaRPr lang="en-US" sz="4000" dirty="0"/>
          </a:p>
        </p:txBody>
      </p:sp>
      <p:sp>
        <p:nvSpPr>
          <p:cNvPr id="10" name="Text 8"/>
          <p:cNvSpPr txBox="1"/>
          <p:nvPr/>
        </p:nvSpPr>
        <p:spPr>
          <a:xfrm>
            <a:off x="1737360" y="3429000"/>
            <a:ext cx="9539935" cy="411480"/>
          </a:xfrm>
          <a:prstGeom prst="rect">
            <a:avLst/>
          </a:prstGeom>
          <a:noFill/>
          <a:ln/>
        </p:spPr>
        <p:txBody>
          <a:bodyPr wrap="square" lIns="0" tIns="0" rIns="0" bIns="0" rtlCol="0" anchor="t"/>
          <a:lstStyle/>
          <a:p>
            <a:pPr marL="0" indent="0">
              <a:buNone/>
            </a:pPr>
            <a:r>
              <a:rPr lang="en-US" sz="1900" b="1" dirty="0">
                <a:solidFill>
                  <a:schemeClr val="tx1"/>
                </a:solidFill>
              </a:rPr>
              <a:t>Dataset gate → stop the run</a:t>
            </a:r>
            <a:endParaRPr lang="en-US" sz="1900" dirty="0"/>
          </a:p>
        </p:txBody>
      </p:sp>
      <p:sp>
        <p:nvSpPr>
          <p:cNvPr id="11" name="Text 9"/>
          <p:cNvSpPr txBox="1"/>
          <p:nvPr/>
        </p:nvSpPr>
        <p:spPr>
          <a:xfrm>
            <a:off x="1737360" y="3867912"/>
            <a:ext cx="9539935" cy="548640"/>
          </a:xfrm>
          <a:prstGeom prst="rect">
            <a:avLst/>
          </a:prstGeom>
          <a:noFill/>
          <a:ln/>
        </p:spPr>
        <p:txBody>
          <a:bodyPr wrap="square" lIns="0" tIns="0" rIns="0" bIns="0" rtlCol="0" anchor="t"/>
          <a:lstStyle/>
          <a:p>
            <a:pPr marL="0" indent="0">
              <a:buNone/>
            </a:pPr>
            <a:r>
              <a:rPr lang="en-US" sz="1500" dirty="0">
                <a:solidFill>
                  <a:schemeClr val="tx2"/>
                </a:solidFill>
              </a:rPr>
              <a:t>Reject rate ≤ 5%, no nulls or negatives, no duplicates, row counts reconcile. Any failure exits with code 1 and nothing is saved.</a:t>
            </a:r>
            <a:endParaRPr lang="en-US" sz="1500" dirty="0"/>
          </a:p>
        </p:txBody>
      </p:sp>
      <p:sp>
        <p:nvSpPr>
          <p:cNvPr id="12" name="layer-3"/>
          <p:cNvSpPr/>
          <p:nvPr/>
        </p:nvSpPr>
        <p:spPr>
          <a:xfrm>
            <a:off x="548640" y="4709160"/>
            <a:ext cx="11094415" cy="1280160"/>
          </a:xfrm>
          <a:prstGeom prst="roundRect">
            <a:avLst>
              <a:gd name="adj" fmla="val 8571"/>
            </a:avLst>
          </a:prstGeom>
          <a:solidFill>
            <a:schemeClr val="bg1"/>
          </a:solidFill>
          <a:ln w="15875">
            <a:solidFill>
              <a:srgbClr val="C9D3DD"/>
            </a:solidFill>
            <a:prstDash val="solid"/>
          </a:ln>
        </p:spPr>
        <p:txBody>
          <a:bodyPr/>
          <a:lstStyle/>
          <a:p>
            <a:endParaRPr lang="en-IN"/>
          </a:p>
        </p:txBody>
      </p:sp>
      <p:sp>
        <p:nvSpPr>
          <p:cNvPr id="13" name="Text 11"/>
          <p:cNvSpPr txBox="1"/>
          <p:nvPr/>
        </p:nvSpPr>
        <p:spPr>
          <a:xfrm>
            <a:off x="868680" y="4937760"/>
            <a:ext cx="640080" cy="822960"/>
          </a:xfrm>
          <a:prstGeom prst="rect">
            <a:avLst/>
          </a:prstGeom>
          <a:noFill/>
          <a:ln/>
        </p:spPr>
        <p:txBody>
          <a:bodyPr wrap="square" lIns="0" tIns="0" rIns="0" bIns="0" rtlCol="0" anchor="t"/>
          <a:lstStyle/>
          <a:p>
            <a:pPr marL="0" indent="0">
              <a:buNone/>
            </a:pPr>
            <a:r>
              <a:rPr lang="en-US" sz="4000" b="1" dirty="0">
                <a:solidFill>
                  <a:schemeClr val="accent1"/>
                </a:solidFill>
              </a:rPr>
              <a:t>3</a:t>
            </a:r>
            <a:endParaRPr lang="en-US" sz="4000" dirty="0"/>
          </a:p>
        </p:txBody>
      </p:sp>
      <p:sp>
        <p:nvSpPr>
          <p:cNvPr id="14" name="Text 12"/>
          <p:cNvSpPr txBox="1"/>
          <p:nvPr/>
        </p:nvSpPr>
        <p:spPr>
          <a:xfrm>
            <a:off x="1737360" y="4892040"/>
            <a:ext cx="9539935" cy="411480"/>
          </a:xfrm>
          <a:prstGeom prst="rect">
            <a:avLst/>
          </a:prstGeom>
          <a:noFill/>
          <a:ln/>
        </p:spPr>
        <p:txBody>
          <a:bodyPr wrap="square" lIns="0" tIns="0" rIns="0" bIns="0" rtlCol="0" anchor="t"/>
          <a:lstStyle/>
          <a:p>
            <a:pPr marL="0" indent="0">
              <a:buNone/>
            </a:pPr>
            <a:r>
              <a:rPr lang="en-US" sz="1900" b="1" dirty="0">
                <a:solidFill>
                  <a:schemeClr val="tx1"/>
                </a:solidFill>
              </a:rPr>
              <a:t>Tests in CI → stop the merge</a:t>
            </a:r>
            <a:endParaRPr lang="en-US" sz="1900" dirty="0"/>
          </a:p>
        </p:txBody>
      </p:sp>
      <p:sp>
        <p:nvSpPr>
          <p:cNvPr id="15" name="Text 13"/>
          <p:cNvSpPr txBox="1"/>
          <p:nvPr/>
        </p:nvSpPr>
        <p:spPr>
          <a:xfrm>
            <a:off x="1737360" y="5330952"/>
            <a:ext cx="9539935" cy="548640"/>
          </a:xfrm>
          <a:prstGeom prst="rect">
            <a:avLst/>
          </a:prstGeom>
          <a:noFill/>
          <a:ln/>
        </p:spPr>
        <p:txBody>
          <a:bodyPr wrap="square" lIns="0" tIns="0" rIns="0" bIns="0" rtlCol="0" anchor="t"/>
          <a:lstStyle/>
          <a:p>
            <a:pPr marL="0" indent="0">
              <a:buNone/>
            </a:pPr>
            <a:r>
              <a:rPr lang="en-US" sz="1500" dirty="0">
                <a:solidFill>
                  <a:schemeClr val="tx2"/>
                </a:solidFill>
              </a:rPr>
              <a:t>15 pytest cases cover every rule, the flags, totals and both gate outcomes; CI also proves the dirty batch fails.</a:t>
            </a:r>
            <a:endParaRPr lang="en-US" sz="15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11094415" cy="320040"/>
          </a:xfrm>
          <a:prstGeom prst="rect">
            <a:avLst/>
          </a:prstGeom>
          <a:noFill/>
          <a:ln/>
        </p:spPr>
        <p:txBody>
          <a:bodyPr wrap="square" lIns="0" tIns="0" rIns="0" bIns="0" rtlCol="0"/>
          <a:lstStyle/>
          <a:p>
            <a:pPr marL="0" indent="0">
              <a:buNone/>
            </a:pPr>
            <a:r>
              <a:rPr lang="en-US" sz="1300" kern="0" spc="200" dirty="0">
                <a:solidFill>
                  <a:schemeClr val="accent1"/>
                </a:solidFill>
                <a:latin typeface="Courier New" pitchFamily="34" charset="0"/>
                <a:ea typeface="Courier New" pitchFamily="34" charset="-122"/>
                <a:cs typeface="Courier New" pitchFamily="34" charset="-120"/>
              </a:rPr>
              <a:t>THE GATE IN ACTION</a:t>
            </a:r>
            <a:endParaRPr lang="en-US" sz="1300" dirty="0"/>
          </a:p>
        </p:txBody>
      </p:sp>
      <p:sp>
        <p:nvSpPr>
          <p:cNvPr id="3" name="Text 0"/>
          <p:cNvSpPr>
            <a:spLocks noGrp="1"/>
          </p:cNvSpPr>
          <p:nvPr>
            <p:ph type="title" idx="101" hasCustomPrompt="1"/>
          </p:nvPr>
        </p:nvSpPr>
        <p:spPr>
          <a:xfrm>
            <a:off x="548640" y="731520"/>
            <a:ext cx="11094415" cy="731520"/>
          </a:xfrm>
          <a:prstGeom prst="rect">
            <a:avLst/>
          </a:prstGeom>
          <a:noFill/>
          <a:ln/>
        </p:spPr>
        <p:txBody>
          <a:bodyPr wrap="square" lIns="0" tIns="0" rIns="0" bIns="0" rtlCol="0" anchor="t"/>
          <a:lstStyle/>
          <a:p>
            <a:pPr marL="0" indent="0" algn="l">
              <a:buNone/>
            </a:pPr>
            <a:r>
              <a:rPr lang="en-US" sz="3400" b="1" dirty="0">
                <a:solidFill>
                  <a:schemeClr val="tx1"/>
                </a:solidFill>
              </a:rPr>
              <a:t>A dirty batch is caught, not loaded</a:t>
            </a:r>
            <a:endParaRPr lang="en-US" sz="3400" dirty="0"/>
          </a:p>
        </p:txBody>
      </p:sp>
      <p:sp>
        <p:nvSpPr>
          <p:cNvPr id="4" name="Text 2"/>
          <p:cNvSpPr txBox="1"/>
          <p:nvPr/>
        </p:nvSpPr>
        <p:spPr>
          <a:xfrm>
            <a:off x="548640" y="1828800"/>
            <a:ext cx="5303520" cy="1188720"/>
          </a:xfrm>
          <a:prstGeom prst="rect">
            <a:avLst/>
          </a:prstGeom>
          <a:noFill/>
          <a:ln/>
        </p:spPr>
        <p:txBody>
          <a:bodyPr wrap="square" lIns="0" tIns="0" rIns="0" bIns="0" rtlCol="0" anchor="t"/>
          <a:lstStyle/>
          <a:p>
            <a:pPr marL="0" indent="0">
              <a:buNone/>
            </a:pPr>
            <a:r>
              <a:rPr lang="en-US" sz="1700" dirty="0">
                <a:solidFill>
                  <a:schemeClr val="tx2"/>
                </a:solidFill>
              </a:rPr>
              <a:t>I seeded a 22-row file with five broken rows and two duplicates. The pipeline quarantined each bad row with its reason and refused to load the batch.</a:t>
            </a:r>
            <a:endParaRPr lang="en-US" sz="1700" dirty="0"/>
          </a:p>
        </p:txBody>
      </p:sp>
      <p:sp>
        <p:nvSpPr>
          <p:cNvPr id="5" name="Text 3"/>
          <p:cNvSpPr txBox="1"/>
          <p:nvPr/>
        </p:nvSpPr>
        <p:spPr>
          <a:xfrm>
            <a:off x="548640" y="3383280"/>
            <a:ext cx="1097280" cy="685800"/>
          </a:xfrm>
          <a:prstGeom prst="rect">
            <a:avLst/>
          </a:prstGeom>
          <a:noFill/>
          <a:ln/>
        </p:spPr>
        <p:txBody>
          <a:bodyPr wrap="square" lIns="0" tIns="0" rIns="0" bIns="0" rtlCol="0" anchor="t"/>
          <a:lstStyle/>
          <a:p>
            <a:pPr marL="0" indent="0">
              <a:buNone/>
            </a:pPr>
            <a:r>
              <a:rPr lang="en-US" sz="4000" b="1" dirty="0">
                <a:solidFill>
                  <a:schemeClr val="tx1"/>
                </a:solidFill>
              </a:rPr>
              <a:t>15</a:t>
            </a:r>
            <a:endParaRPr lang="en-US" sz="4000" dirty="0"/>
          </a:p>
        </p:txBody>
      </p:sp>
      <p:sp>
        <p:nvSpPr>
          <p:cNvPr id="6" name="Text 4"/>
          <p:cNvSpPr txBox="1"/>
          <p:nvPr/>
        </p:nvSpPr>
        <p:spPr>
          <a:xfrm>
            <a:off x="548640" y="4114800"/>
            <a:ext cx="1097280" cy="548640"/>
          </a:xfrm>
          <a:prstGeom prst="rect">
            <a:avLst/>
          </a:prstGeom>
          <a:noFill/>
          <a:ln/>
        </p:spPr>
        <p:txBody>
          <a:bodyPr wrap="square" lIns="0" tIns="0" rIns="0" bIns="0" rtlCol="0" anchor="t"/>
          <a:lstStyle/>
          <a:p>
            <a:pPr marL="0" indent="0">
              <a:buNone/>
            </a:pPr>
            <a:r>
              <a:rPr lang="en-US" sz="1200" dirty="0">
                <a:solidFill>
                  <a:schemeClr val="tx2"/>
                </a:solidFill>
              </a:rPr>
              <a:t>clean rows</a:t>
            </a:r>
            <a:endParaRPr lang="en-US" sz="1200" dirty="0"/>
          </a:p>
        </p:txBody>
      </p:sp>
      <p:sp>
        <p:nvSpPr>
          <p:cNvPr id="7" name="Text 5"/>
          <p:cNvSpPr txBox="1"/>
          <p:nvPr/>
        </p:nvSpPr>
        <p:spPr>
          <a:xfrm>
            <a:off x="1691640" y="3383280"/>
            <a:ext cx="1097280" cy="685800"/>
          </a:xfrm>
          <a:prstGeom prst="rect">
            <a:avLst/>
          </a:prstGeom>
          <a:noFill/>
          <a:ln/>
        </p:spPr>
        <p:txBody>
          <a:bodyPr wrap="square" lIns="0" tIns="0" rIns="0" bIns="0" rtlCol="0" anchor="t"/>
          <a:lstStyle/>
          <a:p>
            <a:pPr marL="0" indent="0">
              <a:buNone/>
            </a:pPr>
            <a:r>
              <a:rPr lang="en-US" sz="4000" b="1" dirty="0">
                <a:solidFill>
                  <a:schemeClr val="tx1"/>
                </a:solidFill>
              </a:rPr>
              <a:t>5</a:t>
            </a:r>
            <a:endParaRPr lang="en-US" sz="4000" dirty="0"/>
          </a:p>
        </p:txBody>
      </p:sp>
      <p:sp>
        <p:nvSpPr>
          <p:cNvPr id="8" name="Text 6"/>
          <p:cNvSpPr txBox="1"/>
          <p:nvPr/>
        </p:nvSpPr>
        <p:spPr>
          <a:xfrm>
            <a:off x="1691640" y="4114800"/>
            <a:ext cx="1097280" cy="548640"/>
          </a:xfrm>
          <a:prstGeom prst="rect">
            <a:avLst/>
          </a:prstGeom>
          <a:noFill/>
          <a:ln/>
        </p:spPr>
        <p:txBody>
          <a:bodyPr wrap="square" lIns="0" tIns="0" rIns="0" bIns="0" rtlCol="0" anchor="t"/>
          <a:lstStyle/>
          <a:p>
            <a:pPr marL="0" indent="0">
              <a:buNone/>
            </a:pPr>
            <a:r>
              <a:rPr lang="en-US" sz="1200" dirty="0">
                <a:solidFill>
                  <a:schemeClr val="tx2"/>
                </a:solidFill>
              </a:rPr>
              <a:t>quarantined</a:t>
            </a:r>
            <a:endParaRPr lang="en-US" sz="1200" dirty="0"/>
          </a:p>
        </p:txBody>
      </p:sp>
      <p:sp>
        <p:nvSpPr>
          <p:cNvPr id="9" name="Text 7"/>
          <p:cNvSpPr txBox="1"/>
          <p:nvPr/>
        </p:nvSpPr>
        <p:spPr>
          <a:xfrm>
            <a:off x="2926080" y="3383280"/>
            <a:ext cx="1097280" cy="685800"/>
          </a:xfrm>
          <a:prstGeom prst="rect">
            <a:avLst/>
          </a:prstGeom>
          <a:noFill/>
          <a:ln/>
        </p:spPr>
        <p:txBody>
          <a:bodyPr wrap="square" lIns="0" tIns="0" rIns="0" bIns="0" rtlCol="0" anchor="t"/>
          <a:lstStyle/>
          <a:p>
            <a:pPr marL="0" indent="0">
              <a:buNone/>
            </a:pPr>
            <a:r>
              <a:rPr lang="en-US" sz="4000" b="1" dirty="0">
                <a:solidFill>
                  <a:schemeClr val="tx1"/>
                </a:solidFill>
              </a:rPr>
              <a:t>2</a:t>
            </a:r>
            <a:endParaRPr lang="en-US" sz="4000" dirty="0"/>
          </a:p>
        </p:txBody>
      </p:sp>
      <p:sp>
        <p:nvSpPr>
          <p:cNvPr id="10" name="Text 8"/>
          <p:cNvSpPr txBox="1"/>
          <p:nvPr/>
        </p:nvSpPr>
        <p:spPr>
          <a:xfrm>
            <a:off x="2926080" y="4114800"/>
            <a:ext cx="1097280" cy="548640"/>
          </a:xfrm>
          <a:prstGeom prst="rect">
            <a:avLst/>
          </a:prstGeom>
          <a:noFill/>
          <a:ln/>
        </p:spPr>
        <p:txBody>
          <a:bodyPr wrap="square" lIns="0" tIns="0" rIns="0" bIns="0" rtlCol="0" anchor="t"/>
          <a:lstStyle/>
          <a:p>
            <a:pPr marL="0" indent="0">
              <a:buNone/>
            </a:pPr>
            <a:r>
              <a:rPr lang="en-US" sz="1200" dirty="0">
                <a:solidFill>
                  <a:schemeClr val="tx2"/>
                </a:solidFill>
              </a:rPr>
              <a:t>duplicates</a:t>
            </a:r>
            <a:endParaRPr lang="en-US" sz="1200" dirty="0"/>
          </a:p>
        </p:txBody>
      </p:sp>
      <p:sp>
        <p:nvSpPr>
          <p:cNvPr id="11" name="Text 9"/>
          <p:cNvSpPr txBox="1"/>
          <p:nvPr/>
        </p:nvSpPr>
        <p:spPr>
          <a:xfrm>
            <a:off x="4069080" y="3383280"/>
            <a:ext cx="1828800" cy="685800"/>
          </a:xfrm>
          <a:prstGeom prst="rect">
            <a:avLst/>
          </a:prstGeom>
          <a:noFill/>
          <a:ln/>
        </p:spPr>
        <p:txBody>
          <a:bodyPr wrap="square" lIns="0" tIns="0" rIns="0" bIns="0" rtlCol="0" anchor="t"/>
          <a:lstStyle/>
          <a:p>
            <a:pPr marL="0" indent="0">
              <a:buNone/>
            </a:pPr>
            <a:r>
              <a:rPr lang="en-US" sz="4000" b="1" dirty="0">
                <a:solidFill>
                  <a:schemeClr val="accent3"/>
                </a:solidFill>
              </a:rPr>
              <a:t>22.7%</a:t>
            </a:r>
            <a:endParaRPr lang="en-US" sz="4000" dirty="0"/>
          </a:p>
        </p:txBody>
      </p:sp>
      <p:sp>
        <p:nvSpPr>
          <p:cNvPr id="12" name="Text 10"/>
          <p:cNvSpPr txBox="1"/>
          <p:nvPr/>
        </p:nvSpPr>
        <p:spPr>
          <a:xfrm>
            <a:off x="4069080" y="4114800"/>
            <a:ext cx="1828800" cy="548640"/>
          </a:xfrm>
          <a:prstGeom prst="rect">
            <a:avLst/>
          </a:prstGeom>
          <a:noFill/>
          <a:ln/>
        </p:spPr>
        <p:txBody>
          <a:bodyPr wrap="square" lIns="0" tIns="0" rIns="0" bIns="0" rtlCol="0" anchor="t"/>
          <a:lstStyle/>
          <a:p>
            <a:pPr marL="0" indent="0">
              <a:buNone/>
            </a:pPr>
            <a:r>
              <a:rPr lang="en-US" sz="1200" dirty="0">
                <a:solidFill>
                  <a:schemeClr val="tx2"/>
                </a:solidFill>
              </a:rPr>
              <a:t>rejected, limit 5%</a:t>
            </a:r>
            <a:endParaRPr lang="en-US" sz="1200" dirty="0"/>
          </a:p>
        </p:txBody>
      </p:sp>
      <p:sp>
        <p:nvSpPr>
          <p:cNvPr id="13" name="log-panel"/>
          <p:cNvSpPr/>
          <p:nvPr/>
        </p:nvSpPr>
        <p:spPr>
          <a:xfrm>
            <a:off x="6400800" y="1783080"/>
            <a:ext cx="5242255" cy="3108960"/>
          </a:xfrm>
          <a:prstGeom prst="roundRect">
            <a:avLst>
              <a:gd name="adj" fmla="val 3529"/>
            </a:avLst>
          </a:prstGeom>
          <a:solidFill>
            <a:schemeClr val="tx1"/>
          </a:solidFill>
          <a:ln/>
        </p:spPr>
        <p:txBody>
          <a:bodyPr/>
          <a:lstStyle/>
          <a:p>
            <a:endParaRPr lang="en-IN"/>
          </a:p>
        </p:txBody>
      </p:sp>
      <p:sp>
        <p:nvSpPr>
          <p:cNvPr id="14" name="Text 12"/>
          <p:cNvSpPr txBox="1"/>
          <p:nvPr/>
        </p:nvSpPr>
        <p:spPr>
          <a:xfrm>
            <a:off x="6675120" y="2011680"/>
            <a:ext cx="4693615" cy="2651760"/>
          </a:xfrm>
          <a:prstGeom prst="rect">
            <a:avLst/>
          </a:prstGeom>
          <a:noFill/>
          <a:ln/>
        </p:spPr>
        <p:txBody>
          <a:bodyPr wrap="square" lIns="0" tIns="0" rIns="0" bIns="0" rtlCol="0" anchor="t"/>
          <a:lstStyle/>
          <a:p>
            <a:pPr marL="0" indent="0">
              <a:buNone/>
            </a:pPr>
            <a:r>
              <a:rPr lang="en-US" sz="1200" dirty="0">
                <a:solidFill>
                  <a:schemeClr val="accent4"/>
                </a:solidFill>
                <a:latin typeface="Courier New" pitchFamily="34" charset="0"/>
                <a:ea typeface="Courier New" pitchFamily="34" charset="-122"/>
                <a:cs typeface="Courier New" pitchFamily="34" charset="-120"/>
              </a:rPr>
              <a:t>$ SOURCE_PATH=data/samples docker compose run --rm pipeline</a:t>
            </a:r>
            <a:endParaRPr lang="en-US" sz="1200" dirty="0"/>
          </a:p>
          <a:p>
            <a:pPr marL="0" indent="0">
              <a:buNone/>
            </a:pPr>
            <a:r>
              <a:rPr lang="en-US" sz="1200" dirty="0">
                <a:solidFill>
                  <a:srgbClr val="000000"/>
                </a:solidFill>
                <a:latin typeface="Courier New" pitchFamily="34" charset="0"/>
                <a:ea typeface="Courier New" pitchFamily="34" charset="-122"/>
                <a:cs typeface="Courier New" pitchFamily="34" charset="-120"/>
              </a:rPr>
              <a:t> </a:t>
            </a:r>
            <a:endParaRPr lang="en-US" sz="1200" dirty="0"/>
          </a:p>
          <a:p>
            <a:pPr marL="0" indent="0">
              <a:buNone/>
            </a:pPr>
            <a:r>
              <a:rPr lang="en-US" sz="1200" dirty="0">
                <a:solidFill>
                  <a:schemeClr val="accent6"/>
                </a:solidFill>
                <a:latin typeface="Courier New" pitchFamily="34" charset="0"/>
                <a:ea typeface="Courier New" pitchFamily="34" charset="-122"/>
                <a:cs typeface="Courier New" pitchFamily="34" charset="-120"/>
              </a:rPr>
              <a:t>"step": "transform",</a:t>
            </a:r>
            <a:endParaRPr lang="en-US" sz="1200" dirty="0"/>
          </a:p>
          <a:p>
            <a:pPr marL="0" indent="0">
              <a:buNone/>
            </a:pPr>
            <a:r>
              <a:rPr lang="en-US" sz="1200" dirty="0">
                <a:solidFill>
                  <a:schemeClr val="accent6"/>
                </a:solidFill>
                <a:latin typeface="Courier New" pitchFamily="34" charset="0"/>
                <a:ea typeface="Courier New" pitchFamily="34" charset="-122"/>
                <a:cs typeface="Courier New" pitchFamily="34" charset="-120"/>
              </a:rPr>
              <a:t>"rows_clean": 15, "rows_rejected": 5,</a:t>
            </a:r>
            <a:endParaRPr lang="en-US" sz="1200" dirty="0"/>
          </a:p>
          <a:p>
            <a:pPr marL="0" indent="0">
              <a:buNone/>
            </a:pPr>
            <a:r>
              <a:rPr lang="en-US" sz="1200" dirty="0">
                <a:solidFill>
                  <a:schemeClr val="accent6"/>
                </a:solidFill>
                <a:latin typeface="Courier New" pitchFamily="34" charset="0"/>
                <a:ea typeface="Courier New" pitchFamily="34" charset="-122"/>
                <a:cs typeface="Courier New" pitchFamily="34" charset="-120"/>
              </a:rPr>
              <a:t>"duplicates_removed": 2</a:t>
            </a:r>
            <a:endParaRPr lang="en-US" sz="1200" dirty="0"/>
          </a:p>
          <a:p>
            <a:pPr marL="0" indent="0">
              <a:buNone/>
            </a:pPr>
            <a:r>
              <a:rPr lang="en-US" sz="1200" dirty="0">
                <a:solidFill>
                  <a:srgbClr val="000000"/>
                </a:solidFill>
                <a:latin typeface="Courier New" pitchFamily="34" charset="0"/>
                <a:ea typeface="Courier New" pitchFamily="34" charset="-122"/>
                <a:cs typeface="Courier New" pitchFamily="34" charset="-120"/>
              </a:rPr>
              <a:t> </a:t>
            </a:r>
            <a:endParaRPr lang="en-US" sz="1200" dirty="0"/>
          </a:p>
          <a:p>
            <a:pPr marL="0" indent="0">
              <a:buNone/>
            </a:pPr>
            <a:r>
              <a:rPr lang="en-US" sz="1200" dirty="0">
                <a:solidFill>
                  <a:schemeClr val="accent6"/>
                </a:solidFill>
                <a:latin typeface="Courier New" pitchFamily="34" charset="0"/>
                <a:ea typeface="Courier New" pitchFamily="34" charset="-122"/>
                <a:cs typeface="Courier New" pitchFamily="34" charset="-120"/>
              </a:rPr>
              <a:t>"step": "quality",</a:t>
            </a:r>
            <a:endParaRPr lang="en-US" sz="1200" dirty="0"/>
          </a:p>
          <a:p>
            <a:pPr marL="0" indent="0">
              <a:buNone/>
            </a:pPr>
            <a:r>
              <a:rPr lang="en-US" sz="1200" dirty="0">
                <a:solidFill>
                  <a:schemeClr val="accent6"/>
                </a:solidFill>
                <a:latin typeface="Courier New" pitchFamily="34" charset="0"/>
                <a:ea typeface="Courier New" pitchFamily="34" charset="-122"/>
                <a:cs typeface="Courier New" pitchFamily="34" charset="-120"/>
              </a:rPr>
              <a:t>"reject_percent": 22.73, "passed": false</a:t>
            </a:r>
            <a:endParaRPr lang="en-US" sz="1200" dirty="0"/>
          </a:p>
          <a:p>
            <a:pPr marL="0" indent="0">
              <a:buNone/>
            </a:pPr>
            <a:r>
              <a:rPr lang="en-US" sz="1200" dirty="0">
                <a:solidFill>
                  <a:srgbClr val="000000"/>
                </a:solidFill>
                <a:latin typeface="Courier New" pitchFamily="34" charset="0"/>
                <a:ea typeface="Courier New" pitchFamily="34" charset="-122"/>
                <a:cs typeface="Courier New" pitchFamily="34" charset="-120"/>
              </a:rPr>
              <a:t> </a:t>
            </a:r>
            <a:endParaRPr lang="en-US" sz="1200" dirty="0"/>
          </a:p>
          <a:p>
            <a:pPr marL="0" indent="0">
              <a:buNone/>
            </a:pPr>
            <a:r>
              <a:rPr lang="en-US" sz="1200" dirty="0">
                <a:solidFill>
                  <a:schemeClr val="accent5"/>
                </a:solidFill>
                <a:latin typeface="Courier New" pitchFamily="34" charset="0"/>
                <a:ea typeface="Courier New" pitchFamily="34" charset="-122"/>
                <a:cs typeface="Courier New" pitchFamily="34" charset="-120"/>
              </a:rPr>
              <a:t>"level": "ERROR", "message": "Pipeline failed",</a:t>
            </a:r>
            <a:endParaRPr lang="en-US" sz="1200" dirty="0"/>
          </a:p>
          <a:p>
            <a:pPr marL="0" indent="0">
              <a:buNone/>
            </a:pPr>
            <a:r>
              <a:rPr lang="en-US" sz="1200" dirty="0">
                <a:solidFill>
                  <a:schemeClr val="accent5"/>
                </a:solidFill>
                <a:latin typeface="Courier New" pitchFamily="34" charset="0"/>
                <a:ea typeface="Courier New" pitchFamily="34" charset="-122"/>
                <a:cs typeface="Courier New" pitchFamily="34" charset="-120"/>
              </a:rPr>
              <a:t>"error": "Data quality checks failed:</a:t>
            </a:r>
            <a:endParaRPr lang="en-US" sz="1200" dirty="0"/>
          </a:p>
          <a:p>
            <a:pPr marL="0" indent="0">
              <a:buNone/>
            </a:pPr>
            <a:r>
              <a:rPr lang="en-US" sz="1200" dirty="0">
                <a:solidFill>
                  <a:schemeClr val="accent5"/>
                </a:solidFill>
                <a:latin typeface="Courier New" pitchFamily="34" charset="0"/>
                <a:ea typeface="Courier New" pitchFamily="34" charset="-122"/>
                <a:cs typeface="Courier New" pitchFamily="34" charset="-120"/>
              </a:rPr>
              <a:t>['reject_rate_ok']"</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11094415" cy="320040"/>
          </a:xfrm>
          <a:prstGeom prst="rect">
            <a:avLst/>
          </a:prstGeom>
          <a:noFill/>
          <a:ln/>
        </p:spPr>
        <p:txBody>
          <a:bodyPr wrap="square" lIns="0" tIns="0" rIns="0" bIns="0" rtlCol="0"/>
          <a:lstStyle/>
          <a:p>
            <a:pPr marL="0" indent="0">
              <a:buNone/>
            </a:pPr>
            <a:r>
              <a:rPr lang="en-US" sz="1300" kern="0" spc="200" dirty="0">
                <a:solidFill>
                  <a:schemeClr val="accent1"/>
                </a:solidFill>
                <a:latin typeface="Courier New" pitchFamily="34" charset="0"/>
                <a:ea typeface="Courier New" pitchFamily="34" charset="-122"/>
                <a:cs typeface="Courier New" pitchFamily="34" charset="-120"/>
              </a:rPr>
              <a:t>MONITORING AND OPERATIONS</a:t>
            </a:r>
            <a:endParaRPr lang="en-US" sz="1300" dirty="0"/>
          </a:p>
        </p:txBody>
      </p:sp>
      <p:sp>
        <p:nvSpPr>
          <p:cNvPr id="3" name="Text 0"/>
          <p:cNvSpPr>
            <a:spLocks noGrp="1"/>
          </p:cNvSpPr>
          <p:nvPr>
            <p:ph type="title" idx="101" hasCustomPrompt="1"/>
          </p:nvPr>
        </p:nvSpPr>
        <p:spPr>
          <a:xfrm>
            <a:off x="548640" y="731520"/>
            <a:ext cx="11094415" cy="731520"/>
          </a:xfrm>
          <a:prstGeom prst="rect">
            <a:avLst/>
          </a:prstGeom>
          <a:noFill/>
          <a:ln/>
        </p:spPr>
        <p:txBody>
          <a:bodyPr wrap="square" lIns="0" tIns="0" rIns="0" bIns="0" rtlCol="0" anchor="t"/>
          <a:lstStyle/>
          <a:p>
            <a:pPr marL="0" indent="0" algn="l">
              <a:buNone/>
            </a:pPr>
            <a:r>
              <a:rPr lang="en-US" sz="3400" b="1" dirty="0">
                <a:solidFill>
                  <a:schemeClr val="tx1"/>
                </a:solidFill>
              </a:rPr>
              <a:t>Every run leaves a clear trail</a:t>
            </a:r>
            <a:endParaRPr lang="en-US" sz="3400" dirty="0"/>
          </a:p>
        </p:txBody>
      </p:sp>
      <p:sp>
        <p:nvSpPr>
          <p:cNvPr id="4" name="mon-pipeline.log"/>
          <p:cNvSpPr/>
          <p:nvPr/>
        </p:nvSpPr>
        <p:spPr>
          <a:xfrm>
            <a:off x="548640" y="1783080"/>
            <a:ext cx="3515258" cy="3017520"/>
          </a:xfrm>
          <a:prstGeom prst="roundRect">
            <a:avLst>
              <a:gd name="adj" fmla="val 3636"/>
            </a:avLst>
          </a:prstGeom>
          <a:solidFill>
            <a:schemeClr val="bg1"/>
          </a:solidFill>
          <a:ln w="15875">
            <a:solidFill>
              <a:srgbClr val="C9D3DD"/>
            </a:solidFill>
            <a:prstDash val="solid"/>
          </a:ln>
        </p:spPr>
        <p:txBody>
          <a:bodyPr/>
          <a:lstStyle/>
          <a:p>
            <a:endParaRPr lang="en-IN"/>
          </a:p>
        </p:txBody>
      </p:sp>
      <p:sp>
        <p:nvSpPr>
          <p:cNvPr id="5" name="icon-bg-0"/>
          <p:cNvSpPr/>
          <p:nvPr/>
        </p:nvSpPr>
        <p:spPr>
          <a:xfrm>
            <a:off x="822960" y="2057400"/>
            <a:ext cx="685800" cy="685800"/>
          </a:xfrm>
          <a:prstGeom prst="ellipse">
            <a:avLst/>
          </a:prstGeom>
          <a:solidFill>
            <a:schemeClr val="bg2"/>
          </a:solidFill>
          <a:ln/>
        </p:spPr>
        <p:txBody>
          <a:bodyPr/>
          <a:lstStyle/>
          <a:p>
            <a:endParaRPr lang="en-IN"/>
          </a:p>
        </p:txBody>
      </p:sp>
      <p:pic>
        <p:nvPicPr>
          <p:cNvPr id="6" name="Image 0" descr="pipeline.log icon"/>
          <p:cNvPicPr>
            <a:picLocks noChangeAspect="1"/>
          </p:cNvPicPr>
          <p:nvPr/>
        </p:nvPicPr>
        <p:blipFill>
          <a:blip r:embed="rId3"/>
          <a:stretch>
            <a:fillRect/>
          </a:stretch>
        </p:blipFill>
        <p:spPr>
          <a:xfrm>
            <a:off x="978408" y="2212848"/>
            <a:ext cx="374904" cy="374904"/>
          </a:xfrm>
          <a:prstGeom prst="rect">
            <a:avLst/>
          </a:prstGeom>
        </p:spPr>
      </p:pic>
      <p:sp>
        <p:nvSpPr>
          <p:cNvPr id="7" name="Text 4"/>
          <p:cNvSpPr txBox="1"/>
          <p:nvPr/>
        </p:nvSpPr>
        <p:spPr>
          <a:xfrm>
            <a:off x="822960" y="2926080"/>
            <a:ext cx="2966618" cy="411480"/>
          </a:xfrm>
          <a:prstGeom prst="rect">
            <a:avLst/>
          </a:prstGeom>
          <a:noFill/>
          <a:ln/>
        </p:spPr>
        <p:txBody>
          <a:bodyPr wrap="square" lIns="0" tIns="0" rIns="0" bIns="0" rtlCol="0" anchor="t"/>
          <a:lstStyle/>
          <a:p>
            <a:pPr marL="0" indent="0">
              <a:buNone/>
            </a:pPr>
            <a:r>
              <a:rPr lang="en-US" sz="1900" b="1" dirty="0">
                <a:solidFill>
                  <a:schemeClr val="tx1"/>
                </a:solidFill>
                <a:latin typeface="Courier New" pitchFamily="34" charset="0"/>
                <a:ea typeface="Courier New" pitchFamily="34" charset="-122"/>
                <a:cs typeface="Courier New" pitchFamily="34" charset="-120"/>
              </a:rPr>
              <a:t>pipeline.log</a:t>
            </a:r>
            <a:endParaRPr lang="en-US" sz="1900" dirty="0"/>
          </a:p>
        </p:txBody>
      </p:sp>
      <p:sp>
        <p:nvSpPr>
          <p:cNvPr id="8" name="Text 5"/>
          <p:cNvSpPr txBox="1"/>
          <p:nvPr/>
        </p:nvSpPr>
        <p:spPr>
          <a:xfrm>
            <a:off x="822960" y="3429000"/>
            <a:ext cx="2966618" cy="1188720"/>
          </a:xfrm>
          <a:prstGeom prst="rect">
            <a:avLst/>
          </a:prstGeom>
          <a:noFill/>
          <a:ln/>
        </p:spPr>
        <p:txBody>
          <a:bodyPr wrap="square" lIns="0" tIns="0" rIns="0" bIns="0" rtlCol="0" anchor="t"/>
          <a:lstStyle/>
          <a:p>
            <a:pPr marL="0" indent="0">
              <a:buNone/>
            </a:pPr>
            <a:r>
              <a:rPr lang="en-US" sz="1500" dirty="0">
                <a:solidFill>
                  <a:schemeClr val="tx2"/>
                </a:solidFill>
              </a:rPr>
              <a:t>One JSON line per step with run id, row counts and errors, on screen and in a file.</a:t>
            </a:r>
            <a:endParaRPr lang="en-US" sz="1500" dirty="0"/>
          </a:p>
        </p:txBody>
      </p:sp>
      <p:sp>
        <p:nvSpPr>
          <p:cNvPr id="9" name="mon-run_report.json"/>
          <p:cNvSpPr/>
          <p:nvPr/>
        </p:nvSpPr>
        <p:spPr>
          <a:xfrm>
            <a:off x="4338218" y="1783080"/>
            <a:ext cx="3515258" cy="3017520"/>
          </a:xfrm>
          <a:prstGeom prst="roundRect">
            <a:avLst>
              <a:gd name="adj" fmla="val 3636"/>
            </a:avLst>
          </a:prstGeom>
          <a:solidFill>
            <a:schemeClr val="bg1"/>
          </a:solidFill>
          <a:ln w="15875">
            <a:solidFill>
              <a:srgbClr val="C9D3DD"/>
            </a:solidFill>
            <a:prstDash val="solid"/>
          </a:ln>
        </p:spPr>
        <p:txBody>
          <a:bodyPr/>
          <a:lstStyle/>
          <a:p>
            <a:endParaRPr lang="en-IN"/>
          </a:p>
        </p:txBody>
      </p:sp>
      <p:sp>
        <p:nvSpPr>
          <p:cNvPr id="10" name="icon-bg-1"/>
          <p:cNvSpPr/>
          <p:nvPr/>
        </p:nvSpPr>
        <p:spPr>
          <a:xfrm>
            <a:off x="4612538" y="2057400"/>
            <a:ext cx="685800" cy="685800"/>
          </a:xfrm>
          <a:prstGeom prst="ellipse">
            <a:avLst/>
          </a:prstGeom>
          <a:solidFill>
            <a:schemeClr val="bg2"/>
          </a:solidFill>
          <a:ln/>
        </p:spPr>
        <p:txBody>
          <a:bodyPr/>
          <a:lstStyle/>
          <a:p>
            <a:endParaRPr lang="en-IN"/>
          </a:p>
        </p:txBody>
      </p:sp>
      <p:pic>
        <p:nvPicPr>
          <p:cNvPr id="11" name="Image 1" descr="run_report.json icon"/>
          <p:cNvPicPr>
            <a:picLocks noChangeAspect="1"/>
          </p:cNvPicPr>
          <p:nvPr/>
        </p:nvPicPr>
        <p:blipFill>
          <a:blip r:embed="rId4"/>
          <a:stretch>
            <a:fillRect/>
          </a:stretch>
        </p:blipFill>
        <p:spPr>
          <a:xfrm>
            <a:off x="4767986" y="2212848"/>
            <a:ext cx="374904" cy="374904"/>
          </a:xfrm>
          <a:prstGeom prst="rect">
            <a:avLst/>
          </a:prstGeom>
        </p:spPr>
      </p:pic>
      <p:sp>
        <p:nvSpPr>
          <p:cNvPr id="12" name="Text 8"/>
          <p:cNvSpPr txBox="1"/>
          <p:nvPr/>
        </p:nvSpPr>
        <p:spPr>
          <a:xfrm>
            <a:off x="4612538" y="2926080"/>
            <a:ext cx="2966618" cy="411480"/>
          </a:xfrm>
          <a:prstGeom prst="rect">
            <a:avLst/>
          </a:prstGeom>
          <a:noFill/>
          <a:ln/>
        </p:spPr>
        <p:txBody>
          <a:bodyPr wrap="square" lIns="0" tIns="0" rIns="0" bIns="0" rtlCol="0" anchor="t"/>
          <a:lstStyle/>
          <a:p>
            <a:pPr marL="0" indent="0">
              <a:buNone/>
            </a:pPr>
            <a:r>
              <a:rPr lang="en-US" sz="1900" b="1" dirty="0">
                <a:solidFill>
                  <a:schemeClr val="tx1"/>
                </a:solidFill>
                <a:latin typeface="Courier New" pitchFamily="34" charset="0"/>
                <a:ea typeface="Courier New" pitchFamily="34" charset="-122"/>
                <a:cs typeface="Courier New" pitchFamily="34" charset="-120"/>
              </a:rPr>
              <a:t>run_report.json</a:t>
            </a:r>
            <a:endParaRPr lang="en-US" sz="1900" dirty="0"/>
          </a:p>
        </p:txBody>
      </p:sp>
      <p:sp>
        <p:nvSpPr>
          <p:cNvPr id="13" name="Text 9"/>
          <p:cNvSpPr txBox="1"/>
          <p:nvPr/>
        </p:nvSpPr>
        <p:spPr>
          <a:xfrm>
            <a:off x="4612538" y="3429000"/>
            <a:ext cx="2966618" cy="1188720"/>
          </a:xfrm>
          <a:prstGeom prst="rect">
            <a:avLst/>
          </a:prstGeom>
          <a:noFill/>
          <a:ln/>
        </p:spPr>
        <p:txBody>
          <a:bodyPr wrap="square" lIns="0" tIns="0" rIns="0" bIns="0" rtlCol="0" anchor="t"/>
          <a:lstStyle/>
          <a:p>
            <a:pPr marL="0" indent="0">
              <a:buNone/>
            </a:pPr>
            <a:r>
              <a:rPr lang="en-US" sz="1500" dirty="0">
                <a:solidFill>
                  <a:schemeClr val="tx2"/>
                </a:solidFill>
              </a:rPr>
              <a:t>Latest run: rows in, clean, rejected, every quality check, duration.</a:t>
            </a:r>
            <a:endParaRPr lang="en-US" sz="1500" dirty="0"/>
          </a:p>
        </p:txBody>
      </p:sp>
      <p:sp>
        <p:nvSpPr>
          <p:cNvPr id="14" name="mon-run_history.csv"/>
          <p:cNvSpPr/>
          <p:nvPr/>
        </p:nvSpPr>
        <p:spPr>
          <a:xfrm>
            <a:off x="8127797" y="1783080"/>
            <a:ext cx="3515258" cy="3017520"/>
          </a:xfrm>
          <a:prstGeom prst="roundRect">
            <a:avLst>
              <a:gd name="adj" fmla="val 3636"/>
            </a:avLst>
          </a:prstGeom>
          <a:solidFill>
            <a:schemeClr val="bg1"/>
          </a:solidFill>
          <a:ln w="15875">
            <a:solidFill>
              <a:srgbClr val="C9D3DD"/>
            </a:solidFill>
            <a:prstDash val="solid"/>
          </a:ln>
        </p:spPr>
        <p:txBody>
          <a:bodyPr/>
          <a:lstStyle/>
          <a:p>
            <a:endParaRPr lang="en-IN"/>
          </a:p>
        </p:txBody>
      </p:sp>
      <p:sp>
        <p:nvSpPr>
          <p:cNvPr id="15" name="icon-bg-2"/>
          <p:cNvSpPr/>
          <p:nvPr/>
        </p:nvSpPr>
        <p:spPr>
          <a:xfrm>
            <a:off x="8402117" y="2057400"/>
            <a:ext cx="685800" cy="685800"/>
          </a:xfrm>
          <a:prstGeom prst="ellipse">
            <a:avLst/>
          </a:prstGeom>
          <a:solidFill>
            <a:schemeClr val="bg2"/>
          </a:solidFill>
          <a:ln/>
        </p:spPr>
        <p:txBody>
          <a:bodyPr/>
          <a:lstStyle/>
          <a:p>
            <a:endParaRPr lang="en-IN"/>
          </a:p>
        </p:txBody>
      </p:sp>
      <p:pic>
        <p:nvPicPr>
          <p:cNvPr id="16" name="Image 2" descr="run_history.csv icon"/>
          <p:cNvPicPr>
            <a:picLocks noChangeAspect="1"/>
          </p:cNvPicPr>
          <p:nvPr/>
        </p:nvPicPr>
        <p:blipFill>
          <a:blip r:embed="rId5"/>
          <a:stretch>
            <a:fillRect/>
          </a:stretch>
        </p:blipFill>
        <p:spPr>
          <a:xfrm>
            <a:off x="8557565" y="2212848"/>
            <a:ext cx="374904" cy="374904"/>
          </a:xfrm>
          <a:prstGeom prst="rect">
            <a:avLst/>
          </a:prstGeom>
        </p:spPr>
      </p:pic>
      <p:sp>
        <p:nvSpPr>
          <p:cNvPr id="17" name="Text 12"/>
          <p:cNvSpPr txBox="1"/>
          <p:nvPr/>
        </p:nvSpPr>
        <p:spPr>
          <a:xfrm>
            <a:off x="8402117" y="2926080"/>
            <a:ext cx="2966618" cy="411480"/>
          </a:xfrm>
          <a:prstGeom prst="rect">
            <a:avLst/>
          </a:prstGeom>
          <a:noFill/>
          <a:ln/>
        </p:spPr>
        <p:txBody>
          <a:bodyPr wrap="square" lIns="0" tIns="0" rIns="0" bIns="0" rtlCol="0" anchor="t"/>
          <a:lstStyle/>
          <a:p>
            <a:pPr marL="0" indent="0">
              <a:buNone/>
            </a:pPr>
            <a:r>
              <a:rPr lang="en-US" sz="1900" b="1" dirty="0">
                <a:solidFill>
                  <a:schemeClr val="tx1"/>
                </a:solidFill>
                <a:latin typeface="Courier New" pitchFamily="34" charset="0"/>
                <a:ea typeface="Courier New" pitchFamily="34" charset="-122"/>
                <a:cs typeface="Courier New" pitchFamily="34" charset="-120"/>
              </a:rPr>
              <a:t>run_history.csv</a:t>
            </a:r>
            <a:endParaRPr lang="en-US" sz="1900" dirty="0"/>
          </a:p>
        </p:txBody>
      </p:sp>
      <p:sp>
        <p:nvSpPr>
          <p:cNvPr id="18" name="Text 13"/>
          <p:cNvSpPr txBox="1"/>
          <p:nvPr/>
        </p:nvSpPr>
        <p:spPr>
          <a:xfrm>
            <a:off x="8402117" y="3429000"/>
            <a:ext cx="2966618" cy="1188720"/>
          </a:xfrm>
          <a:prstGeom prst="rect">
            <a:avLst/>
          </a:prstGeom>
          <a:noFill/>
          <a:ln/>
        </p:spPr>
        <p:txBody>
          <a:bodyPr wrap="square" lIns="0" tIns="0" rIns="0" bIns="0" rtlCol="0" anchor="t"/>
          <a:lstStyle/>
          <a:p>
            <a:pPr marL="0" indent="0">
              <a:buNone/>
            </a:pPr>
            <a:r>
              <a:rPr lang="en-US" sz="1500" dirty="0">
                <a:solidFill>
                  <a:schemeClr val="tx2"/>
                </a:solidFill>
              </a:rPr>
              <a:t>One line per run, kept forever, to spot trends like rising rejects or slow runs.</a:t>
            </a:r>
            <a:endParaRPr lang="en-US" sz="1500" dirty="0"/>
          </a:p>
        </p:txBody>
      </p:sp>
      <p:sp>
        <p:nvSpPr>
          <p:cNvPr id="19" name="Text 14"/>
          <p:cNvSpPr txBox="1"/>
          <p:nvPr/>
        </p:nvSpPr>
        <p:spPr>
          <a:xfrm>
            <a:off x="548640" y="5166360"/>
            <a:ext cx="11094415" cy="640080"/>
          </a:xfrm>
          <a:prstGeom prst="rect">
            <a:avLst/>
          </a:prstGeom>
          <a:noFill/>
          <a:ln/>
        </p:spPr>
        <p:txBody>
          <a:bodyPr wrap="square" lIns="0" tIns="0" rIns="0" bIns="0" rtlCol="0" anchor="t"/>
          <a:lstStyle/>
          <a:p>
            <a:pPr marL="0" indent="0">
              <a:buNone/>
            </a:pPr>
            <a:r>
              <a:rPr lang="en-US" sz="1600" b="1" dirty="0">
                <a:solidFill>
                  <a:schemeClr val="tx1"/>
                </a:solidFill>
              </a:rPr>
              <a:t>Operations: </a:t>
            </a:r>
            <a:r>
              <a:rPr lang="en-US" sz="1600" dirty="0">
                <a:solidFill>
                  <a:schemeClr val="tx2"/>
                </a:solidFill>
              </a:rPr>
              <a:t>safe re-runs (outputs are replaced, not appended) · run id on every row for lineage · quarantine file for review</a:t>
            </a:r>
            <a:endParaRPr lang="en-US" sz="16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11094415" cy="320040"/>
          </a:xfrm>
          <a:prstGeom prst="rect">
            <a:avLst/>
          </a:prstGeom>
          <a:noFill/>
          <a:ln/>
        </p:spPr>
        <p:txBody>
          <a:bodyPr wrap="square" lIns="0" tIns="0" rIns="0" bIns="0" rtlCol="0"/>
          <a:lstStyle/>
          <a:p>
            <a:pPr marL="0" indent="0">
              <a:buNone/>
            </a:pPr>
            <a:r>
              <a:rPr lang="en-US" sz="1300" kern="0" spc="200" dirty="0">
                <a:solidFill>
                  <a:schemeClr val="accent1"/>
                </a:solidFill>
                <a:latin typeface="Courier New" pitchFamily="34" charset="0"/>
                <a:ea typeface="Courier New" pitchFamily="34" charset="-122"/>
                <a:cs typeface="Courier New" pitchFamily="34" charset="-120"/>
              </a:rPr>
              <a:t>INFRASTRUCTURE AND SECRETS</a:t>
            </a:r>
            <a:endParaRPr lang="en-US" sz="1300" dirty="0"/>
          </a:p>
        </p:txBody>
      </p:sp>
      <p:sp>
        <p:nvSpPr>
          <p:cNvPr id="3" name="Text 0"/>
          <p:cNvSpPr>
            <a:spLocks noGrp="1"/>
          </p:cNvSpPr>
          <p:nvPr>
            <p:ph type="title" idx="101" hasCustomPrompt="1"/>
          </p:nvPr>
        </p:nvSpPr>
        <p:spPr>
          <a:xfrm>
            <a:off x="548640" y="731520"/>
            <a:ext cx="11094415" cy="731520"/>
          </a:xfrm>
          <a:prstGeom prst="rect">
            <a:avLst/>
          </a:prstGeom>
          <a:noFill/>
          <a:ln/>
        </p:spPr>
        <p:txBody>
          <a:bodyPr wrap="square" lIns="0" tIns="0" rIns="0" bIns="0" rtlCol="0" anchor="t"/>
          <a:lstStyle/>
          <a:p>
            <a:pPr marL="0" indent="0" algn="l">
              <a:buNone/>
            </a:pPr>
            <a:r>
              <a:rPr lang="en-US" sz="3400" b="1" dirty="0">
                <a:solidFill>
                  <a:schemeClr val="tx1"/>
                </a:solidFill>
              </a:rPr>
              <a:t>Real infrastructure, real secret, no cloud bill</a:t>
            </a:r>
            <a:endParaRPr lang="en-US" sz="3400" dirty="0"/>
          </a:p>
        </p:txBody>
      </p:sp>
      <p:sp>
        <p:nvSpPr>
          <p:cNvPr id="4" name="infra-commands"/>
          <p:cNvSpPr/>
          <p:nvPr/>
        </p:nvSpPr>
        <p:spPr>
          <a:xfrm>
            <a:off x="548640" y="1783080"/>
            <a:ext cx="5120640" cy="2103120"/>
          </a:xfrm>
          <a:prstGeom prst="roundRect">
            <a:avLst>
              <a:gd name="adj" fmla="val 5217"/>
            </a:avLst>
          </a:prstGeom>
          <a:solidFill>
            <a:schemeClr val="tx1"/>
          </a:solidFill>
          <a:ln/>
        </p:spPr>
        <p:txBody>
          <a:bodyPr/>
          <a:lstStyle/>
          <a:p>
            <a:endParaRPr lang="en-IN"/>
          </a:p>
        </p:txBody>
      </p:sp>
      <p:sp>
        <p:nvSpPr>
          <p:cNvPr id="5" name="Text 3"/>
          <p:cNvSpPr txBox="1"/>
          <p:nvPr/>
        </p:nvSpPr>
        <p:spPr>
          <a:xfrm>
            <a:off x="868680" y="2011680"/>
            <a:ext cx="4480560" cy="1645920"/>
          </a:xfrm>
          <a:prstGeom prst="rect">
            <a:avLst/>
          </a:prstGeom>
          <a:noFill/>
          <a:ln/>
        </p:spPr>
        <p:txBody>
          <a:bodyPr wrap="square" lIns="0" tIns="0" rIns="0" bIns="0" rtlCol="0" anchor="t"/>
          <a:lstStyle/>
          <a:p>
            <a:pPr marL="0" indent="0">
              <a:spcAft>
                <a:spcPts val="600"/>
              </a:spcAft>
              <a:buNone/>
            </a:pPr>
            <a:r>
              <a:rPr lang="en-US" sz="1500" dirty="0">
                <a:solidFill>
                  <a:schemeClr val="accent6"/>
                </a:solidFill>
                <a:latin typeface="Courier New" pitchFamily="34" charset="0"/>
                <a:ea typeface="Courier New" pitchFamily="34" charset="-122"/>
                <a:cs typeface="Courier New" pitchFamily="34" charset="-120"/>
              </a:rPr>
              <a:t>cp .env.example .env</a:t>
            </a:r>
            <a:endParaRPr lang="en-US" sz="1500" dirty="0"/>
          </a:p>
          <a:p>
            <a:pPr marL="0" indent="0">
              <a:spcAft>
                <a:spcPts val="600"/>
              </a:spcAft>
              <a:buNone/>
            </a:pPr>
            <a:r>
              <a:rPr lang="en-US" sz="1500" dirty="0">
                <a:solidFill>
                  <a:schemeClr val="accent6"/>
                </a:solidFill>
                <a:latin typeface="Courier New" pitchFamily="34" charset="0"/>
                <a:ea typeface="Courier New" pitchFamily="34" charset="-122"/>
                <a:cs typeface="Courier New" pitchFamily="34" charset="-120"/>
              </a:rPr>
              <a:t>docker compose up --build</a:t>
            </a:r>
            <a:endParaRPr lang="en-US" sz="1500" dirty="0"/>
          </a:p>
          <a:p>
            <a:pPr marL="0" indent="0">
              <a:spcAft>
                <a:spcPts val="600"/>
              </a:spcAft>
              <a:buNone/>
            </a:pPr>
            <a:r>
              <a:rPr lang="en-US" sz="1500" dirty="0">
                <a:solidFill>
                  <a:schemeClr val="accent4"/>
                </a:solidFill>
                <a:latin typeface="Courier New" pitchFamily="34" charset="0"/>
                <a:ea typeface="Courier New" pitchFamily="34" charset="-122"/>
                <a:cs typeface="Courier New" pitchFamily="34" charset="-120"/>
              </a:rPr>
              <a:t># or</a:t>
            </a:r>
            <a:endParaRPr lang="en-US" sz="1500" dirty="0"/>
          </a:p>
          <a:p>
            <a:pPr marL="0" indent="0">
              <a:spcAft>
                <a:spcPts val="600"/>
              </a:spcAft>
              <a:buNone/>
            </a:pPr>
            <a:r>
              <a:rPr lang="en-US" sz="1500" dirty="0">
                <a:solidFill>
                  <a:schemeClr val="accent6"/>
                </a:solidFill>
                <a:latin typeface="Courier New" pitchFamily="34" charset="0"/>
                <a:ea typeface="Courier New" pitchFamily="34" charset="-122"/>
                <a:cs typeface="Courier New" pitchFamily="34" charset="-120"/>
              </a:rPr>
              <a:t>terraform -chdir=infra apply</a:t>
            </a:r>
            <a:endParaRPr lang="en-US" sz="1500" dirty="0"/>
          </a:p>
        </p:txBody>
      </p:sp>
      <p:sp>
        <p:nvSpPr>
          <p:cNvPr id="6" name="Text 4"/>
          <p:cNvSpPr txBox="1"/>
          <p:nvPr/>
        </p:nvSpPr>
        <p:spPr>
          <a:xfrm>
            <a:off x="548640" y="4160520"/>
            <a:ext cx="5120640" cy="1097280"/>
          </a:xfrm>
          <a:prstGeom prst="rect">
            <a:avLst/>
          </a:prstGeom>
          <a:noFill/>
          <a:ln/>
        </p:spPr>
        <p:txBody>
          <a:bodyPr wrap="square" lIns="0" tIns="0" rIns="0" bIns="0" rtlCol="0" anchor="t"/>
          <a:lstStyle/>
          <a:p>
            <a:pPr marL="0" indent="0">
              <a:buNone/>
            </a:pPr>
            <a:r>
              <a:rPr lang="en-US" sz="1600" dirty="0">
                <a:solidFill>
                  <a:schemeClr val="tx2"/>
                </a:solidFill>
              </a:rPr>
              <a:t>Both start Postgres, build the image and run the pipeline on my laptop. Terraform uses the Docker provider, so apply really works in the demo.</a:t>
            </a:r>
            <a:endParaRPr lang="en-US" sz="1600" dirty="0"/>
          </a:p>
        </p:txBody>
      </p:sp>
      <p:sp>
        <p:nvSpPr>
          <p:cNvPr id="7" name="secret-0"/>
          <p:cNvSpPr/>
          <p:nvPr/>
        </p:nvSpPr>
        <p:spPr>
          <a:xfrm>
            <a:off x="6126480" y="1783080"/>
            <a:ext cx="5516575" cy="932688"/>
          </a:xfrm>
          <a:prstGeom prst="roundRect">
            <a:avLst>
              <a:gd name="adj" fmla="val 11765"/>
            </a:avLst>
          </a:prstGeom>
          <a:solidFill>
            <a:schemeClr val="bg1"/>
          </a:solidFill>
          <a:ln w="15875">
            <a:solidFill>
              <a:srgbClr val="C9D3DD"/>
            </a:solidFill>
            <a:prstDash val="solid"/>
          </a:ln>
        </p:spPr>
        <p:txBody>
          <a:bodyPr/>
          <a:lstStyle/>
          <a:p>
            <a:endParaRPr lang="en-IN"/>
          </a:p>
        </p:txBody>
      </p:sp>
      <p:sp>
        <p:nvSpPr>
          <p:cNvPr id="8" name="Text 6"/>
          <p:cNvSpPr txBox="1"/>
          <p:nvPr/>
        </p:nvSpPr>
        <p:spPr>
          <a:xfrm>
            <a:off x="6400800" y="1911096"/>
            <a:ext cx="4967935" cy="320040"/>
          </a:xfrm>
          <a:prstGeom prst="rect">
            <a:avLst/>
          </a:prstGeom>
          <a:noFill/>
          <a:ln/>
        </p:spPr>
        <p:txBody>
          <a:bodyPr wrap="square" lIns="0" tIns="0" rIns="0" bIns="0" rtlCol="0" anchor="t"/>
          <a:lstStyle/>
          <a:p>
            <a:pPr marL="0" indent="0">
              <a:buNone/>
            </a:pPr>
            <a:r>
              <a:rPr lang="en-US" sz="1600" b="1" dirty="0">
                <a:solidFill>
                  <a:schemeClr val="tx1"/>
                </a:solidFill>
              </a:rPr>
              <a:t>The secret</a:t>
            </a:r>
            <a:endParaRPr lang="en-US" sz="1600" dirty="0"/>
          </a:p>
        </p:txBody>
      </p:sp>
      <p:sp>
        <p:nvSpPr>
          <p:cNvPr id="9" name="Text 7"/>
          <p:cNvSpPr txBox="1"/>
          <p:nvPr/>
        </p:nvSpPr>
        <p:spPr>
          <a:xfrm>
            <a:off x="6400800" y="2258568"/>
            <a:ext cx="4967935" cy="365760"/>
          </a:xfrm>
          <a:prstGeom prst="rect">
            <a:avLst/>
          </a:prstGeom>
          <a:noFill/>
          <a:ln/>
        </p:spPr>
        <p:txBody>
          <a:bodyPr wrap="square" lIns="0" tIns="0" rIns="0" bIns="0" rtlCol="0" anchor="t"/>
          <a:lstStyle/>
          <a:p>
            <a:pPr marL="0" indent="0">
              <a:buNone/>
            </a:pPr>
            <a:r>
              <a:rPr lang="en-US" sz="1300" dirty="0">
                <a:solidFill>
                  <a:schemeClr val="tx2"/>
                </a:solidFill>
              </a:rPr>
              <a:t>The Postgres password, read only from an environment variable, never logged</a:t>
            </a:r>
            <a:endParaRPr lang="en-US" sz="1300" dirty="0"/>
          </a:p>
        </p:txBody>
      </p:sp>
      <p:sp>
        <p:nvSpPr>
          <p:cNvPr id="10" name="secret-1"/>
          <p:cNvSpPr/>
          <p:nvPr/>
        </p:nvSpPr>
        <p:spPr>
          <a:xfrm>
            <a:off x="6126480" y="2862072"/>
            <a:ext cx="5516575" cy="932688"/>
          </a:xfrm>
          <a:prstGeom prst="roundRect">
            <a:avLst>
              <a:gd name="adj" fmla="val 11765"/>
            </a:avLst>
          </a:prstGeom>
          <a:solidFill>
            <a:schemeClr val="bg1"/>
          </a:solidFill>
          <a:ln w="15875">
            <a:solidFill>
              <a:srgbClr val="C9D3DD"/>
            </a:solidFill>
            <a:prstDash val="solid"/>
          </a:ln>
        </p:spPr>
        <p:txBody>
          <a:bodyPr/>
          <a:lstStyle/>
          <a:p>
            <a:endParaRPr lang="en-IN"/>
          </a:p>
        </p:txBody>
      </p:sp>
      <p:sp>
        <p:nvSpPr>
          <p:cNvPr id="11" name="Text 9"/>
          <p:cNvSpPr txBox="1"/>
          <p:nvPr/>
        </p:nvSpPr>
        <p:spPr>
          <a:xfrm>
            <a:off x="6400800" y="2990088"/>
            <a:ext cx="4967935" cy="320040"/>
          </a:xfrm>
          <a:prstGeom prst="rect">
            <a:avLst/>
          </a:prstGeom>
          <a:noFill/>
          <a:ln/>
        </p:spPr>
        <p:txBody>
          <a:bodyPr wrap="square" lIns="0" tIns="0" rIns="0" bIns="0" rtlCol="0" anchor="t"/>
          <a:lstStyle/>
          <a:p>
            <a:pPr marL="0" indent="0">
              <a:buNone/>
            </a:pPr>
            <a:r>
              <a:rPr lang="en-US" sz="1600" b="1" dirty="0">
                <a:solidFill>
                  <a:schemeClr val="tx1"/>
                </a:solidFill>
              </a:rPr>
              <a:t>Local</a:t>
            </a:r>
            <a:endParaRPr lang="en-US" sz="1600" dirty="0"/>
          </a:p>
        </p:txBody>
      </p:sp>
      <p:sp>
        <p:nvSpPr>
          <p:cNvPr id="12" name="Text 10"/>
          <p:cNvSpPr txBox="1"/>
          <p:nvPr/>
        </p:nvSpPr>
        <p:spPr>
          <a:xfrm>
            <a:off x="6400800" y="3337560"/>
            <a:ext cx="4967935" cy="365760"/>
          </a:xfrm>
          <a:prstGeom prst="rect">
            <a:avLst/>
          </a:prstGeom>
          <a:noFill/>
          <a:ln/>
        </p:spPr>
        <p:txBody>
          <a:bodyPr wrap="square" lIns="0" tIns="0" rIns="0" bIns="0" rtlCol="0" anchor="t"/>
          <a:lstStyle/>
          <a:p>
            <a:pPr marL="0" indent="0">
              <a:buNone/>
            </a:pPr>
            <a:r>
              <a:rPr lang="en-US" sz="1300" dirty="0">
                <a:solidFill>
                  <a:schemeClr val="tx2"/>
                </a:solidFill>
              </a:rPr>
              <a:t>.env is git-ignored; .env.example is the committed template</a:t>
            </a:r>
            <a:endParaRPr lang="en-US" sz="1300" dirty="0"/>
          </a:p>
        </p:txBody>
      </p:sp>
      <p:sp>
        <p:nvSpPr>
          <p:cNvPr id="13" name="secret-2"/>
          <p:cNvSpPr/>
          <p:nvPr/>
        </p:nvSpPr>
        <p:spPr>
          <a:xfrm>
            <a:off x="6126480" y="3941064"/>
            <a:ext cx="5516575" cy="932688"/>
          </a:xfrm>
          <a:prstGeom prst="roundRect">
            <a:avLst>
              <a:gd name="adj" fmla="val 11765"/>
            </a:avLst>
          </a:prstGeom>
          <a:solidFill>
            <a:schemeClr val="bg1"/>
          </a:solidFill>
          <a:ln w="15875">
            <a:solidFill>
              <a:srgbClr val="C9D3DD"/>
            </a:solidFill>
            <a:prstDash val="solid"/>
          </a:ln>
        </p:spPr>
        <p:txBody>
          <a:bodyPr/>
          <a:lstStyle/>
          <a:p>
            <a:endParaRPr lang="en-IN"/>
          </a:p>
        </p:txBody>
      </p:sp>
      <p:sp>
        <p:nvSpPr>
          <p:cNvPr id="14" name="Text 12"/>
          <p:cNvSpPr txBox="1"/>
          <p:nvPr/>
        </p:nvSpPr>
        <p:spPr>
          <a:xfrm>
            <a:off x="6400800" y="4069080"/>
            <a:ext cx="4967935" cy="320040"/>
          </a:xfrm>
          <a:prstGeom prst="rect">
            <a:avLst/>
          </a:prstGeom>
          <a:noFill/>
          <a:ln/>
        </p:spPr>
        <p:txBody>
          <a:bodyPr wrap="square" lIns="0" tIns="0" rIns="0" bIns="0" rtlCol="0" anchor="t"/>
          <a:lstStyle/>
          <a:p>
            <a:pPr marL="0" indent="0">
              <a:buNone/>
            </a:pPr>
            <a:r>
              <a:rPr lang="en-US" sz="1600" b="1" dirty="0">
                <a:solidFill>
                  <a:schemeClr val="tx1"/>
                </a:solidFill>
              </a:rPr>
              <a:t>CI and Terraform</a:t>
            </a:r>
            <a:endParaRPr lang="en-US" sz="1600" dirty="0"/>
          </a:p>
        </p:txBody>
      </p:sp>
      <p:sp>
        <p:nvSpPr>
          <p:cNvPr id="15" name="Text 13"/>
          <p:cNvSpPr txBox="1"/>
          <p:nvPr/>
        </p:nvSpPr>
        <p:spPr>
          <a:xfrm>
            <a:off x="6400800" y="4416552"/>
            <a:ext cx="4967935" cy="365760"/>
          </a:xfrm>
          <a:prstGeom prst="rect">
            <a:avLst/>
          </a:prstGeom>
          <a:noFill/>
          <a:ln/>
        </p:spPr>
        <p:txBody>
          <a:bodyPr wrap="square" lIns="0" tIns="0" rIns="0" bIns="0" rtlCol="0" anchor="t"/>
          <a:lstStyle/>
          <a:p>
            <a:pPr marL="0" indent="0">
              <a:buNone/>
            </a:pPr>
            <a:r>
              <a:rPr lang="en-US" sz="1300" dirty="0">
                <a:solidFill>
                  <a:schemeClr val="tx2"/>
                </a:solidFill>
              </a:rPr>
              <a:t>GitHub Secrets; TF_VAR_db_password marked sensitive</a:t>
            </a:r>
            <a:endParaRPr lang="en-US" sz="1300" dirty="0"/>
          </a:p>
        </p:txBody>
      </p:sp>
      <p:sp>
        <p:nvSpPr>
          <p:cNvPr id="16" name="secret-3"/>
          <p:cNvSpPr/>
          <p:nvPr/>
        </p:nvSpPr>
        <p:spPr>
          <a:xfrm>
            <a:off x="6126480" y="5020056"/>
            <a:ext cx="5516575" cy="932688"/>
          </a:xfrm>
          <a:prstGeom prst="roundRect">
            <a:avLst>
              <a:gd name="adj" fmla="val 11765"/>
            </a:avLst>
          </a:prstGeom>
          <a:solidFill>
            <a:schemeClr val="bg1"/>
          </a:solidFill>
          <a:ln w="15875">
            <a:solidFill>
              <a:srgbClr val="C9D3DD"/>
            </a:solidFill>
            <a:prstDash val="solid"/>
          </a:ln>
        </p:spPr>
        <p:txBody>
          <a:bodyPr/>
          <a:lstStyle/>
          <a:p>
            <a:endParaRPr lang="en-IN"/>
          </a:p>
        </p:txBody>
      </p:sp>
      <p:sp>
        <p:nvSpPr>
          <p:cNvPr id="17" name="Text 15"/>
          <p:cNvSpPr txBox="1"/>
          <p:nvPr/>
        </p:nvSpPr>
        <p:spPr>
          <a:xfrm>
            <a:off x="6400800" y="5148072"/>
            <a:ext cx="4967935" cy="320040"/>
          </a:xfrm>
          <a:prstGeom prst="rect">
            <a:avLst/>
          </a:prstGeom>
          <a:noFill/>
          <a:ln/>
        </p:spPr>
        <p:txBody>
          <a:bodyPr wrap="square" lIns="0" tIns="0" rIns="0" bIns="0" rtlCol="0" anchor="t"/>
          <a:lstStyle/>
          <a:p>
            <a:pPr marL="0" indent="0">
              <a:buNone/>
            </a:pPr>
            <a:r>
              <a:rPr lang="en-US" sz="1600" b="1" dirty="0">
                <a:solidFill>
                  <a:schemeClr val="tx1"/>
                </a:solidFill>
              </a:rPr>
              <a:t>In AWS later</a:t>
            </a:r>
            <a:endParaRPr lang="en-US" sz="1600" dirty="0"/>
          </a:p>
        </p:txBody>
      </p:sp>
      <p:sp>
        <p:nvSpPr>
          <p:cNvPr id="18" name="Text 16"/>
          <p:cNvSpPr txBox="1"/>
          <p:nvPr/>
        </p:nvSpPr>
        <p:spPr>
          <a:xfrm>
            <a:off x="6400800" y="5495544"/>
            <a:ext cx="4967935" cy="365760"/>
          </a:xfrm>
          <a:prstGeom prst="rect">
            <a:avLst/>
          </a:prstGeom>
          <a:noFill/>
          <a:ln/>
        </p:spPr>
        <p:txBody>
          <a:bodyPr wrap="square" lIns="0" tIns="0" rIns="0" bIns="0" rtlCol="0" anchor="t"/>
          <a:lstStyle/>
          <a:p>
            <a:pPr marL="0" indent="0">
              <a:buNone/>
            </a:pPr>
            <a:r>
              <a:rPr lang="en-US" sz="1300" dirty="0">
                <a:solidFill>
                  <a:schemeClr val="tx2"/>
                </a:solidFill>
              </a:rPr>
              <a:t>Secrets Manager or Vault sets the same variable: no code change</a:t>
            </a:r>
            <a:endParaRPr lang="en-US" sz="13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11094415" cy="320040"/>
          </a:xfrm>
          <a:prstGeom prst="rect">
            <a:avLst/>
          </a:prstGeom>
          <a:noFill/>
          <a:ln/>
        </p:spPr>
        <p:txBody>
          <a:bodyPr wrap="square" lIns="0" tIns="0" rIns="0" bIns="0" rtlCol="0"/>
          <a:lstStyle/>
          <a:p>
            <a:pPr marL="0" indent="0">
              <a:buNone/>
            </a:pPr>
            <a:r>
              <a:rPr lang="en-US" sz="1300" kern="0" spc="200" dirty="0">
                <a:solidFill>
                  <a:schemeClr val="accent1"/>
                </a:solidFill>
                <a:latin typeface="Courier New" pitchFamily="34" charset="0"/>
                <a:ea typeface="Courier New" pitchFamily="34" charset="-122"/>
                <a:cs typeface="Courier New" pitchFamily="34" charset="-120"/>
              </a:rPr>
              <a:t>CHALLENGES</a:t>
            </a:r>
            <a:endParaRPr lang="en-US" sz="1300" dirty="0"/>
          </a:p>
        </p:txBody>
      </p:sp>
      <p:sp>
        <p:nvSpPr>
          <p:cNvPr id="3" name="Text 0"/>
          <p:cNvSpPr>
            <a:spLocks noGrp="1"/>
          </p:cNvSpPr>
          <p:nvPr>
            <p:ph type="title" idx="101" hasCustomPrompt="1"/>
          </p:nvPr>
        </p:nvSpPr>
        <p:spPr>
          <a:xfrm>
            <a:off x="548640" y="731520"/>
            <a:ext cx="11094415" cy="731520"/>
          </a:xfrm>
          <a:prstGeom prst="rect">
            <a:avLst/>
          </a:prstGeom>
          <a:noFill/>
          <a:ln/>
        </p:spPr>
        <p:txBody>
          <a:bodyPr wrap="square" lIns="0" tIns="0" rIns="0" bIns="0" rtlCol="0" anchor="t"/>
          <a:lstStyle/>
          <a:p>
            <a:pPr marL="0" indent="0" algn="l">
              <a:buNone/>
            </a:pPr>
            <a:r>
              <a:rPr lang="en-US" sz="3400" b="1" dirty="0">
                <a:solidFill>
                  <a:schemeClr val="tx1"/>
                </a:solidFill>
              </a:rPr>
              <a:t>What got in the way, and the fix</a:t>
            </a:r>
            <a:endParaRPr lang="en-US" sz="3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2468880"/>
        </p:xfrm>
        <a:graphic>
          <a:graphicData uri="http://schemas.openxmlformats.org/drawingml/2006/table">
            <a:tbl>
              <a:tblPr/>
              <a:tblGrid>
                <a:gridCol w="5120640">
                  <a:extLst>
                    <a:ext uri="{9D8B030D-6E8A-4147-A177-3AD203B41FA5}">
                      <a16:colId xmlns:a16="http://schemas.microsoft.com/office/drawing/2014/main" val="20000"/>
                    </a:ext>
                  </a:extLst>
                </a:gridCol>
                <a:gridCol w="5973775">
                  <a:extLst>
                    <a:ext uri="{9D8B030D-6E8A-4147-A177-3AD203B41FA5}">
                      <a16:colId xmlns:a16="http://schemas.microsoft.com/office/drawing/2014/main" val="20001"/>
                    </a:ext>
                  </a:extLst>
                </a:gridCol>
              </a:tblGrid>
              <a:tr h="0">
                <a:tc>
                  <a:txBody>
                    <a:bodyPr/>
                    <a:lstStyle/>
                    <a:p>
                      <a:pPr marL="0" indent="0">
                        <a:buNone/>
                      </a:pPr>
                      <a:r>
                        <a:rPr lang="en-US" sz="1600" b="1" dirty="0">
                          <a:solidFill>
                            <a:schemeClr val="bg1"/>
                          </a:solidFill>
                        </a:rPr>
                        <a:t>Challenge</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1"/>
                    </a:solidFill>
                  </a:tcPr>
                </a:tc>
                <a:tc>
                  <a:txBody>
                    <a:bodyPr/>
                    <a:lstStyle/>
                    <a:p>
                      <a:pPr marL="0" indent="0">
                        <a:buNone/>
                      </a:pPr>
                      <a:r>
                        <a:rPr lang="en-US" sz="1600" b="1" dirty="0">
                          <a:solidFill>
                            <a:schemeClr val="bg1"/>
                          </a:solidFill>
                        </a:rPr>
                        <a:t>How I solved it</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0">
                <a:tc>
                  <a:txBody>
                    <a:bodyPr/>
                    <a:lstStyle/>
                    <a:p>
                      <a:pPr marL="0" indent="0">
                        <a:buNone/>
                      </a:pPr>
                      <a:r>
                        <a:rPr lang="en-US" sz="1600" dirty="0">
                          <a:solidFill>
                            <a:schemeClr val="tx1"/>
                          </a:solidFill>
                        </a:rPr>
                        <a:t>The source data was already clean, so the quality rules never fired</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Built a seeded “dirty batch”; CI expects it to fail</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0">
                <a:tc>
                  <a:txBody>
                    <a:bodyPr/>
                    <a:lstStyle/>
                    <a:p>
                      <a:pPr marL="0" indent="0">
                        <a:buNone/>
                      </a:pPr>
                      <a:r>
                        <a:rPr lang="en-US" sz="1600" dirty="0">
                          <a:solidFill>
                            <a:schemeClr val="tx1"/>
                          </a:solidFill>
                        </a:rPr>
                        <a:t>IaC and a warehouse without a cloud account or bill</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Terraform Docker provider + Postgres as mock Redshift</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0">
                <a:tc>
                  <a:txBody>
                    <a:bodyPr/>
                    <a:lstStyle/>
                    <a:p>
                      <a:pPr marL="0" indent="0">
                        <a:buNone/>
                      </a:pPr>
                      <a:r>
                        <a:rPr lang="en-US" sz="1600" dirty="0">
                          <a:solidFill>
                            <a:schemeClr val="tx1"/>
                          </a:solidFill>
                        </a:rPr>
                        <a:t>Same code on a laptop, in Docker and in CI</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Config from env vars; SQLite fallback when no DB_HOST</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0">
                <a:tc>
                  <a:txBody>
                    <a:bodyPr/>
                    <a:lstStyle/>
                    <a:p>
                      <a:pPr marL="0" indent="0">
                        <a:buNone/>
                      </a:pPr>
                      <a:r>
                        <a:rPr lang="en-US" sz="1600" dirty="0">
                          <a:solidFill>
                            <a:schemeClr val="tx1"/>
                          </a:solidFill>
                        </a:rPr>
                        <a:t>Re-running a failed day could double-load data</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Tables are replaced, plus de-duplication on the business key</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0">
                <a:tc>
                  <a:txBody>
                    <a:bodyPr/>
                    <a:lstStyle/>
                    <a:p>
                      <a:pPr marL="0" indent="0">
                        <a:buNone/>
                      </a:pPr>
                      <a:r>
                        <a:rPr lang="en-US" sz="1600" dirty="0">
                          <a:solidFill>
                            <a:schemeClr val="tx1"/>
                          </a:solidFill>
                        </a:rPr>
                        <a:t>Container writing to mounted folders as non-root</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Create data/ and logs/ up front with the right permissions</a:t>
                      </a:r>
                      <a:endParaRPr lang="en-US" sz="1600" dirty="0"/>
                    </a:p>
                  </a:txBody>
                  <a:tcPr marL="101600" marR="101600" marT="63500" marB="635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11094415" cy="320040"/>
          </a:xfrm>
          <a:prstGeom prst="rect">
            <a:avLst/>
          </a:prstGeom>
          <a:noFill/>
          <a:ln/>
        </p:spPr>
        <p:txBody>
          <a:bodyPr wrap="square" lIns="0" tIns="0" rIns="0" bIns="0" rtlCol="0"/>
          <a:lstStyle/>
          <a:p>
            <a:pPr marL="0" indent="0">
              <a:buNone/>
            </a:pPr>
            <a:r>
              <a:rPr lang="en-US" sz="1300" kern="0" spc="200" dirty="0">
                <a:solidFill>
                  <a:schemeClr val="accent1"/>
                </a:solidFill>
                <a:latin typeface="Courier New" pitchFamily="34" charset="0"/>
                <a:ea typeface="Courier New" pitchFamily="34" charset="-122"/>
                <a:cs typeface="Courier New" pitchFamily="34" charset="-120"/>
              </a:rPr>
              <a:t>SCALABILITY AND AGILITY</a:t>
            </a:r>
            <a:endParaRPr lang="en-US" sz="1300" dirty="0"/>
          </a:p>
        </p:txBody>
      </p:sp>
      <p:sp>
        <p:nvSpPr>
          <p:cNvPr id="3" name="Text 0"/>
          <p:cNvSpPr>
            <a:spLocks noGrp="1"/>
          </p:cNvSpPr>
          <p:nvPr>
            <p:ph type="title" idx="101" hasCustomPrompt="1"/>
          </p:nvPr>
        </p:nvSpPr>
        <p:spPr>
          <a:xfrm>
            <a:off x="548640" y="731520"/>
            <a:ext cx="11094415" cy="731520"/>
          </a:xfrm>
          <a:prstGeom prst="rect">
            <a:avLst/>
          </a:prstGeom>
          <a:noFill/>
          <a:ln/>
        </p:spPr>
        <p:txBody>
          <a:bodyPr wrap="square" lIns="0" tIns="0" rIns="0" bIns="0" rtlCol="0" anchor="t"/>
          <a:lstStyle/>
          <a:p>
            <a:pPr marL="0" indent="0" algn="l">
              <a:buNone/>
            </a:pPr>
            <a:r>
              <a:rPr lang="en-US" sz="3400" b="1" dirty="0">
                <a:solidFill>
                  <a:schemeClr val="tx1"/>
                </a:solidFill>
              </a:rPr>
              <a:t>Built to grow without a rewrite</a:t>
            </a:r>
            <a:endParaRPr lang="en-US" sz="3400" dirty="0"/>
          </a:p>
        </p:txBody>
      </p:sp>
      <p:sp>
        <p:nvSpPr>
          <p:cNvPr id="4" name="scale-0"/>
          <p:cNvSpPr/>
          <p:nvPr/>
        </p:nvSpPr>
        <p:spPr>
          <a:xfrm>
            <a:off x="548640" y="1783080"/>
            <a:ext cx="5364328" cy="3383280"/>
          </a:xfrm>
          <a:prstGeom prst="roundRect">
            <a:avLst>
              <a:gd name="adj" fmla="val 3243"/>
            </a:avLst>
          </a:prstGeom>
          <a:solidFill>
            <a:schemeClr val="bg1"/>
          </a:solidFill>
          <a:ln w="15875">
            <a:solidFill>
              <a:srgbClr val="C9D3DD"/>
            </a:solidFill>
            <a:prstDash val="solid"/>
          </a:ln>
        </p:spPr>
        <p:txBody>
          <a:bodyPr/>
          <a:lstStyle/>
          <a:p>
            <a:endParaRPr lang="en-IN"/>
          </a:p>
        </p:txBody>
      </p:sp>
      <p:sp>
        <p:nvSpPr>
          <p:cNvPr id="5" name="Text 3"/>
          <p:cNvSpPr txBox="1"/>
          <p:nvPr/>
        </p:nvSpPr>
        <p:spPr>
          <a:xfrm>
            <a:off x="868680" y="2057400"/>
            <a:ext cx="4724248" cy="457200"/>
          </a:xfrm>
          <a:prstGeom prst="rect">
            <a:avLst/>
          </a:prstGeom>
          <a:noFill/>
          <a:ln/>
        </p:spPr>
        <p:txBody>
          <a:bodyPr wrap="square" lIns="0" tIns="0" rIns="0" bIns="0" rtlCol="0" anchor="t"/>
          <a:lstStyle/>
          <a:p>
            <a:pPr marL="0" indent="0">
              <a:buNone/>
            </a:pPr>
            <a:r>
              <a:rPr lang="en-US" sz="2200" b="1" dirty="0">
                <a:solidFill>
                  <a:schemeClr val="accent1"/>
                </a:solidFill>
              </a:rPr>
              <a:t>Scalability</a:t>
            </a:r>
            <a:endParaRPr lang="en-US" sz="2200" dirty="0"/>
          </a:p>
        </p:txBody>
      </p:sp>
      <p:sp>
        <p:nvSpPr>
          <p:cNvPr id="6" name="Text 4"/>
          <p:cNvSpPr txBox="1"/>
          <p:nvPr/>
        </p:nvSpPr>
        <p:spPr>
          <a:xfrm>
            <a:off x="868680" y="2697480"/>
            <a:ext cx="4724248" cy="30175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2"/>
                </a:solidFill>
              </a:rPr>
              <a:t>Pure transform functions port to PySpark or Glue</a:t>
            </a:r>
            <a:endParaRPr lang="en-US" sz="1600" dirty="0"/>
          </a:p>
          <a:p>
            <a:pPr marL="342900" indent="-342900">
              <a:spcAft>
                <a:spcPts val="1000"/>
              </a:spcAft>
              <a:buSzPct val="100000"/>
              <a:buChar char="•"/>
            </a:pPr>
            <a:r>
              <a:rPr lang="en-US" sz="1600" dirty="0">
                <a:solidFill>
                  <a:schemeClr val="tx2"/>
                </a:solidFill>
              </a:rPr>
              <a:t>Month-partitioned Parquet: query only what you need</a:t>
            </a:r>
            <a:endParaRPr lang="en-US" sz="1600" dirty="0"/>
          </a:p>
          <a:p>
            <a:pPr marL="342900" indent="-342900">
              <a:spcAft>
                <a:spcPts val="1000"/>
              </a:spcAft>
              <a:buSzPct val="100000"/>
              <a:buChar char="•"/>
            </a:pPr>
            <a:r>
              <a:rPr lang="en-US" sz="1600" dirty="0">
                <a:solidFill>
                  <a:schemeClr val="tx2"/>
                </a:solidFill>
              </a:rPr>
              <a:t>Stateless container scales out on ECS or Kubernetes</a:t>
            </a:r>
            <a:endParaRPr lang="en-US" sz="1600" dirty="0"/>
          </a:p>
          <a:p>
            <a:pPr marL="342900" indent="-342900">
              <a:spcAft>
                <a:spcPts val="1000"/>
              </a:spcAft>
              <a:buSzPct val="100000"/>
              <a:buChar char="•"/>
            </a:pPr>
            <a:r>
              <a:rPr lang="en-US" sz="1600" dirty="0">
                <a:solidFill>
                  <a:schemeClr val="tx2"/>
                </a:solidFill>
              </a:rPr>
              <a:t>Postgres swaps for Redshift with the same SQL</a:t>
            </a:r>
            <a:endParaRPr lang="en-US" sz="1600" dirty="0"/>
          </a:p>
          <a:p>
            <a:pPr marL="342900" indent="-342900">
              <a:spcAft>
                <a:spcPts val="1000"/>
              </a:spcAft>
              <a:buSzPct val="100000"/>
              <a:buChar char="•"/>
            </a:pPr>
            <a:r>
              <a:rPr lang="en-US" sz="1600" dirty="0">
                <a:solidFill>
                  <a:schemeClr val="tx2"/>
                </a:solidFill>
              </a:rPr>
              <a:t>Next: Airflow for scheduling, incremental loads</a:t>
            </a:r>
            <a:endParaRPr lang="en-US" sz="1600" dirty="0"/>
          </a:p>
        </p:txBody>
      </p:sp>
      <p:sp>
        <p:nvSpPr>
          <p:cNvPr id="7" name="scale-1"/>
          <p:cNvSpPr/>
          <p:nvPr/>
        </p:nvSpPr>
        <p:spPr>
          <a:xfrm>
            <a:off x="6278728" y="1783080"/>
            <a:ext cx="5364328" cy="3383280"/>
          </a:xfrm>
          <a:prstGeom prst="roundRect">
            <a:avLst>
              <a:gd name="adj" fmla="val 3243"/>
            </a:avLst>
          </a:prstGeom>
          <a:solidFill>
            <a:schemeClr val="bg1"/>
          </a:solidFill>
          <a:ln w="15875">
            <a:solidFill>
              <a:srgbClr val="C9D3DD"/>
            </a:solidFill>
            <a:prstDash val="solid"/>
          </a:ln>
        </p:spPr>
        <p:txBody>
          <a:bodyPr/>
          <a:lstStyle/>
          <a:p>
            <a:endParaRPr lang="en-IN"/>
          </a:p>
        </p:txBody>
      </p:sp>
      <p:sp>
        <p:nvSpPr>
          <p:cNvPr id="8" name="Text 6"/>
          <p:cNvSpPr txBox="1"/>
          <p:nvPr/>
        </p:nvSpPr>
        <p:spPr>
          <a:xfrm>
            <a:off x="6598768" y="2057400"/>
            <a:ext cx="4724248" cy="457200"/>
          </a:xfrm>
          <a:prstGeom prst="rect">
            <a:avLst/>
          </a:prstGeom>
          <a:noFill/>
          <a:ln/>
        </p:spPr>
        <p:txBody>
          <a:bodyPr wrap="square" lIns="0" tIns="0" rIns="0" bIns="0" rtlCol="0" anchor="t"/>
          <a:lstStyle/>
          <a:p>
            <a:pPr marL="0" indent="0">
              <a:buNone/>
            </a:pPr>
            <a:r>
              <a:rPr lang="en-US" sz="2200" b="1" dirty="0">
                <a:solidFill>
                  <a:schemeClr val="accent3"/>
                </a:solidFill>
              </a:rPr>
              <a:t>Agility in finance</a:t>
            </a:r>
            <a:endParaRPr lang="en-US" sz="2200" dirty="0"/>
          </a:p>
        </p:txBody>
      </p:sp>
      <p:sp>
        <p:nvSpPr>
          <p:cNvPr id="9" name="Text 7"/>
          <p:cNvSpPr txBox="1"/>
          <p:nvPr/>
        </p:nvSpPr>
        <p:spPr>
          <a:xfrm>
            <a:off x="6598768" y="2697480"/>
            <a:ext cx="4724248" cy="30175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2"/>
                </a:solidFill>
              </a:rPr>
              <a:t>A new fraud rule is one function plus a test</a:t>
            </a:r>
            <a:endParaRPr lang="en-US" sz="1600" dirty="0"/>
          </a:p>
          <a:p>
            <a:pPr marL="342900" indent="-342900">
              <a:spcAft>
                <a:spcPts val="1000"/>
              </a:spcAft>
              <a:buSzPct val="100000"/>
              <a:buChar char="•"/>
            </a:pPr>
            <a:r>
              <a:rPr lang="en-US" sz="1600" dirty="0">
                <a:solidFill>
                  <a:schemeClr val="tx2"/>
                </a:solidFill>
              </a:rPr>
              <a:t>Every change is tested in CI and auditable in git</a:t>
            </a:r>
            <a:endParaRPr lang="en-US" sz="1600" dirty="0"/>
          </a:p>
          <a:p>
            <a:pPr marL="342900" indent="-342900">
              <a:spcAft>
                <a:spcPts val="1000"/>
              </a:spcAft>
              <a:buSzPct val="100000"/>
              <a:buChar char="•"/>
            </a:pPr>
            <a:r>
              <a:rPr lang="en-US" sz="1600" dirty="0">
                <a:solidFill>
                  <a:schemeClr val="tx2"/>
                </a:solidFill>
              </a:rPr>
              <a:t>Run ids and quarantine give lineage for auditors</a:t>
            </a:r>
            <a:endParaRPr lang="en-US" sz="1600" dirty="0"/>
          </a:p>
          <a:p>
            <a:pPr marL="342900" indent="-342900">
              <a:spcAft>
                <a:spcPts val="1000"/>
              </a:spcAft>
              <a:buSzPct val="100000"/>
              <a:buChar char="•"/>
            </a:pPr>
            <a:r>
              <a:rPr lang="en-US" sz="1600" dirty="0">
                <a:solidFill>
                  <a:schemeClr val="tx2"/>
                </a:solidFill>
              </a:rPr>
              <a:t>Same features feed BI and fraud models</a:t>
            </a:r>
            <a:endParaRPr lang="en-US" sz="1600" dirty="0"/>
          </a:p>
          <a:p>
            <a:pPr marL="342900" indent="-342900">
              <a:spcAft>
                <a:spcPts val="1000"/>
              </a:spcAft>
              <a:buSzPct val="100000"/>
              <a:buChar char="•"/>
            </a:pPr>
            <a:r>
              <a:rPr lang="en-US" sz="1600" dirty="0">
                <a:solidFill>
                  <a:schemeClr val="tx2"/>
                </a:solidFill>
              </a:rPr>
              <a:t>New environment = one terraform apply</a:t>
            </a:r>
            <a:endParaRPr lang="en-US" sz="16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11094415" cy="320040"/>
          </a:xfrm>
          <a:prstGeom prst="rect">
            <a:avLst/>
          </a:prstGeom>
          <a:noFill/>
          <a:ln/>
        </p:spPr>
        <p:txBody>
          <a:bodyPr wrap="square" lIns="0" tIns="0" rIns="0" bIns="0" rtlCol="0"/>
          <a:lstStyle/>
          <a:p>
            <a:pPr marL="0" indent="0">
              <a:buNone/>
            </a:pPr>
            <a:r>
              <a:rPr lang="en-US" sz="1300" kern="0" spc="200" dirty="0">
                <a:solidFill>
                  <a:schemeClr val="accent5"/>
                </a:solidFill>
                <a:latin typeface="Courier New" pitchFamily="34" charset="0"/>
                <a:ea typeface="Courier New" pitchFamily="34" charset="-122"/>
                <a:cs typeface="Courier New" pitchFamily="34" charset="-120"/>
              </a:rPr>
              <a:t>LIVE DEMO</a:t>
            </a:r>
            <a:endParaRPr lang="en-US" sz="1300" dirty="0"/>
          </a:p>
        </p:txBody>
      </p:sp>
      <p:sp>
        <p:nvSpPr>
          <p:cNvPr id="3" name="Text 1"/>
          <p:cNvSpPr txBox="1"/>
          <p:nvPr/>
        </p:nvSpPr>
        <p:spPr>
          <a:xfrm>
            <a:off x="548640" y="2377440"/>
            <a:ext cx="5029200" cy="1097280"/>
          </a:xfrm>
          <a:prstGeom prst="rect">
            <a:avLst/>
          </a:prstGeom>
          <a:noFill/>
          <a:ln/>
        </p:spPr>
        <p:txBody>
          <a:bodyPr wrap="square" lIns="0" tIns="0" rIns="0" bIns="0" rtlCol="0" anchor="t"/>
          <a:lstStyle/>
          <a:p>
            <a:pPr marL="0" indent="0">
              <a:buNone/>
            </a:pPr>
            <a:r>
              <a:rPr lang="en-US" sz="5400" b="1" dirty="0">
                <a:solidFill>
                  <a:schemeClr val="bg1"/>
                </a:solidFill>
              </a:rPr>
              <a:t>Let’s run it</a:t>
            </a:r>
            <a:endParaRPr lang="en-US" sz="5400" dirty="0"/>
          </a:p>
        </p:txBody>
      </p:sp>
      <p:sp>
        <p:nvSpPr>
          <p:cNvPr id="4" name="Text 2"/>
          <p:cNvSpPr txBox="1"/>
          <p:nvPr/>
        </p:nvSpPr>
        <p:spPr>
          <a:xfrm>
            <a:off x="548640" y="3611880"/>
            <a:ext cx="5303520" cy="731520"/>
          </a:xfrm>
          <a:prstGeom prst="rect">
            <a:avLst/>
          </a:prstGeom>
          <a:noFill/>
          <a:ln/>
        </p:spPr>
        <p:txBody>
          <a:bodyPr wrap="square" lIns="0" tIns="0" rIns="0" bIns="0" rtlCol="0" anchor="t"/>
          <a:lstStyle/>
          <a:p>
            <a:r>
              <a:rPr lang="en-US" sz="1600" dirty="0">
                <a:solidFill>
                  <a:schemeClr val="accent6"/>
                </a:solidFill>
              </a:rPr>
              <a:t>Code: https://github.com/ramjishree305-beep/Coventry-Building-Society----Dataops-Pipeline</a:t>
            </a:r>
            <a:endParaRPr lang="en-US" sz="1600" dirty="0"/>
          </a:p>
        </p:txBody>
      </p:sp>
      <p:sp>
        <p:nvSpPr>
          <p:cNvPr id="5" name="demo-steps"/>
          <p:cNvSpPr/>
          <p:nvPr/>
        </p:nvSpPr>
        <p:spPr>
          <a:xfrm>
            <a:off x="6400800" y="1371600"/>
            <a:ext cx="5242255" cy="4206240"/>
          </a:xfrm>
          <a:prstGeom prst="roundRect">
            <a:avLst>
              <a:gd name="adj" fmla="val 2609"/>
            </a:avLst>
          </a:prstGeom>
          <a:solidFill>
            <a:srgbClr val="1C2E40"/>
          </a:solidFill>
          <a:ln/>
        </p:spPr>
        <p:txBody>
          <a:bodyPr/>
          <a:lstStyle/>
          <a:p>
            <a:endParaRPr lang="en-IN"/>
          </a:p>
        </p:txBody>
      </p:sp>
      <p:sp>
        <p:nvSpPr>
          <p:cNvPr id="6" name="Text 4"/>
          <p:cNvSpPr txBox="1"/>
          <p:nvPr/>
        </p:nvSpPr>
        <p:spPr>
          <a:xfrm>
            <a:off x="6766560" y="1737360"/>
            <a:ext cx="4510735" cy="3566160"/>
          </a:xfrm>
          <a:prstGeom prst="rect">
            <a:avLst/>
          </a:prstGeom>
          <a:noFill/>
          <a:ln/>
        </p:spPr>
        <p:txBody>
          <a:bodyPr wrap="square" lIns="0" tIns="0" rIns="0" bIns="0" rtlCol="0" anchor="t"/>
          <a:lstStyle/>
          <a:p>
            <a:pPr marL="0" indent="0">
              <a:spcAft>
                <a:spcPts val="1400"/>
              </a:spcAft>
              <a:buNone/>
            </a:pPr>
            <a:r>
              <a:rPr lang="en-US" sz="1700" dirty="0">
                <a:solidFill>
                  <a:schemeClr val="bg1"/>
                </a:solidFill>
                <a:latin typeface="Courier New" pitchFamily="34" charset="0"/>
                <a:ea typeface="Courier New" pitchFamily="34" charset="-122"/>
                <a:cs typeface="Courier New" pitchFamily="34" charset="-120"/>
              </a:rPr>
              <a:t>1  pytest -v</a:t>
            </a:r>
            <a:endParaRPr lang="en-US" sz="1700" dirty="0"/>
          </a:p>
          <a:p>
            <a:pPr marL="0" indent="0">
              <a:spcAft>
                <a:spcPts val="1400"/>
              </a:spcAft>
              <a:buNone/>
            </a:pPr>
            <a:r>
              <a:rPr lang="en-US" sz="1700" dirty="0">
                <a:solidFill>
                  <a:schemeClr val="bg1"/>
                </a:solidFill>
                <a:latin typeface="Courier New" pitchFamily="34" charset="0"/>
                <a:ea typeface="Courier New" pitchFamily="34" charset="-122"/>
                <a:cs typeface="Courier New" pitchFamily="34" charset="-120"/>
              </a:rPr>
              <a:t>2  docker compose up --build</a:t>
            </a:r>
            <a:endParaRPr lang="en-US" sz="1700" dirty="0"/>
          </a:p>
          <a:p>
            <a:pPr marL="0" indent="0">
              <a:spcAft>
                <a:spcPts val="1400"/>
              </a:spcAft>
              <a:buNone/>
            </a:pPr>
            <a:r>
              <a:rPr lang="en-US" sz="1700" dirty="0">
                <a:solidFill>
                  <a:schemeClr val="bg1"/>
                </a:solidFill>
                <a:latin typeface="Courier New" pitchFamily="34" charset="0"/>
                <a:ea typeface="Courier New" pitchFamily="34" charset="-122"/>
                <a:cs typeface="Courier New" pitchFamily="34" charset="-120"/>
              </a:rPr>
              <a:t>3  open run_report.json</a:t>
            </a:r>
            <a:endParaRPr lang="en-US" sz="1700" dirty="0"/>
          </a:p>
          <a:p>
            <a:pPr marL="0" indent="0">
              <a:spcAft>
                <a:spcPts val="1400"/>
              </a:spcAft>
              <a:buNone/>
            </a:pPr>
            <a:r>
              <a:rPr lang="en-US" sz="1700" dirty="0">
                <a:solidFill>
                  <a:schemeClr val="bg1"/>
                </a:solidFill>
                <a:latin typeface="Courier New" pitchFamily="34" charset="0"/>
                <a:ea typeface="Courier New" pitchFamily="34" charset="-122"/>
                <a:cs typeface="Courier New" pitchFamily="34" charset="-120"/>
              </a:rPr>
              <a:t>4  dirty batch → gate fails</a:t>
            </a:r>
            <a:endParaRPr lang="en-US" sz="1700" dirty="0"/>
          </a:p>
          <a:p>
            <a:pPr marL="0" indent="0">
              <a:spcAft>
                <a:spcPts val="1400"/>
              </a:spcAft>
              <a:buNone/>
            </a:pPr>
            <a:r>
              <a:rPr lang="en-US" sz="1700" dirty="0">
                <a:solidFill>
                  <a:schemeClr val="bg1"/>
                </a:solidFill>
                <a:latin typeface="Courier New" pitchFamily="34" charset="0"/>
                <a:ea typeface="Courier New" pitchFamily="34" charset="-122"/>
                <a:cs typeface="Courier New" pitchFamily="34" charset="-120"/>
              </a:rPr>
              <a:t>5  query Postgres with SQL</a:t>
            </a:r>
            <a:endParaRPr lang="en-US" sz="1700" dirty="0"/>
          </a:p>
          <a:p>
            <a:pPr marL="0" indent="0">
              <a:spcAft>
                <a:spcPts val="1400"/>
              </a:spcAft>
              <a:buNone/>
            </a:pPr>
            <a:r>
              <a:rPr lang="en-US" sz="1700" dirty="0">
                <a:solidFill>
                  <a:schemeClr val="bg1"/>
                </a:solidFill>
                <a:latin typeface="Courier New" pitchFamily="34" charset="0"/>
                <a:ea typeface="Courier New" pitchFamily="34" charset="-122"/>
                <a:cs typeface="Courier New" pitchFamily="34" charset="-120"/>
              </a:rPr>
              <a:t>6  green GitHub Actions run</a:t>
            </a:r>
            <a:endParaRPr lang="en-US" sz="17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theme/theme1.xml><?xml version="1.0" encoding="utf-8"?>
<a:theme xmlns:a="http://schemas.openxmlformats.org/drawingml/2006/main" name="DataOps Navy">
  <a:themeElements>
    <a:clrScheme name="DataOps Navy">
      <a:dk1>
        <a:srgbClr val="13202E"/>
      </a:dk1>
      <a:lt1>
        <a:srgbClr val="FFFFFF"/>
      </a:lt1>
      <a:dk2>
        <a:srgbClr val="4A5568"/>
      </a:dk2>
      <a:lt2>
        <a:srgbClr val="EEF1F5"/>
      </a:lt2>
      <a:accent1>
        <a:srgbClr val="2F5FB3"/>
      </a:accent1>
      <a:accent2>
        <a:srgbClr val="E07A2E"/>
      </a:accent2>
      <a:accent3>
        <a:srgbClr val="B5561A"/>
      </a:accent3>
      <a:accent4>
        <a:srgbClr val="7FA8E8"/>
      </a:accent4>
      <a:accent5>
        <a:srgbClr val="F2A65A"/>
      </a:accent5>
      <a:accent6>
        <a:srgbClr val="B9C6D3"/>
      </a:accent6>
      <a:hlink>
        <a:srgbClr val="2F5FB3"/>
      </a:hlink>
      <a:folHlink>
        <a:srgbClr val="1E3F7A"/>
      </a:folHlink>
    </a:clrScheme>
    <a:fontScheme name="DataOps Navy">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2703</Words>
  <Application>Microsoft Office PowerPoint</Application>
  <PresentationFormat>Widescreen</PresentationFormat>
  <Paragraphs>254</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Courier New</vt:lpstr>
      <vt:lpstr>DataOps Navy</vt:lpstr>
      <vt:lpstr>PowerPoint Presentation</vt:lpstr>
      <vt:lpstr>Every requirement met, no cloud account needed</vt:lpstr>
      <vt:lpstr>Six steps, with a gate before storage</vt:lpstr>
      <vt:lpstr>From raw CSV to three tables in a few seconds</vt:lpstr>
      <vt:lpstr>Free, local tools that map one-to-one to AWS</vt:lpstr>
      <vt:lpstr>Clean, enrich, aggregate</vt:lpstr>
      <vt:lpstr>Every push is tested, validated and run for real</vt:lpstr>
      <vt:lpstr>Three layers stop bad data reaching the warehouse</vt:lpstr>
      <vt:lpstr>A dirty batch is caught, not loaded</vt:lpstr>
      <vt:lpstr>Every run leaves a clear trail</vt:lpstr>
      <vt:lpstr>Real infrastructure, real secret, no cloud bill</vt:lpstr>
      <vt:lpstr>What got in the way, and the fix</vt:lpstr>
      <vt:lpstr>Built to grow without a rewrite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DataOps Pipeline for Financial Transactions</dc:title>
  <dc:subject>PptxGenJS Presentation</dc:subject>
  <dc:creator>PptxGenJS</dc:creator>
  <cp:lastModifiedBy>Shree Ramji</cp:lastModifiedBy>
  <cp:revision>3</cp:revision>
  <dcterms:created xsi:type="dcterms:W3CDTF">2026-10-25T17:32:52Z</dcterms:created>
  <dcterms:modified xsi:type="dcterms:W3CDTF">2026-10-26T08:12:59Z</dcterms:modified>
</cp:coreProperties>
</file>